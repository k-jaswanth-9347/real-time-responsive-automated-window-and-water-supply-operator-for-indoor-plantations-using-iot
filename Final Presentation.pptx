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8" r:id="rId12"/>
    <p:sldId id="269" r:id="rId13"/>
    <p:sldId id="270" r:id="rId14"/>
    <p:sldId id="271" r:id="rId15"/>
    <p:sldId id="272" r:id="rId16"/>
    <p:sldId id="273" r:id="rId17"/>
  </p:sldIdLst>
  <p:sldSz cx="9144000" cy="6858000" type="screen4x3"/>
  <p:notesSz cx="6858000" cy="9144000"/>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1180" y="5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A14C853-F969-4EDB-B1B6-13A65A914456}" type="datetimeFigureOut">
              <a:rPr lang="en-IN" smtClean="0"/>
              <a:pPr/>
              <a:t>12-05-2025</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EBB5E6E-FBB6-4AE1-8984-500CF4F83D4E}" type="slidenum">
              <a:rPr lang="en-IN" smtClean="0"/>
              <a:pPr/>
              <a:t>‹#›</a:t>
            </a:fld>
            <a:endParaRPr lang="en-IN"/>
          </a:p>
        </p:txBody>
      </p:sp>
    </p:spTree>
    <p:extLst>
      <p:ext uri="{BB962C8B-B14F-4D97-AF65-F5344CB8AC3E}">
        <p14:creationId xmlns:p14="http://schemas.microsoft.com/office/powerpoint/2010/main" val="24546600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a:p>
        </p:txBody>
      </p:sp>
      <p:sp>
        <p:nvSpPr>
          <p:cNvPr id="4" name="Slide Number Placeholder 3"/>
          <p:cNvSpPr>
            <a:spLocks noGrp="1"/>
          </p:cNvSpPr>
          <p:nvPr>
            <p:ph type="sldNum" sz="quarter" idx="10"/>
          </p:nvPr>
        </p:nvSpPr>
        <p:spPr/>
        <p:txBody>
          <a:bodyPr/>
          <a:lstStyle/>
          <a:p>
            <a:fld id="{BEBB5E6E-FBB6-4AE1-8984-500CF4F83D4E}" type="slidenum">
              <a:rPr lang="en-IN" smtClean="0"/>
              <a:pPr/>
              <a:t>1</a:t>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EBB5E6E-FBB6-4AE1-8984-500CF4F83D4E}" type="slidenum">
              <a:rPr lang="en-IN" smtClean="0"/>
              <a:pPr/>
              <a:t>13</a:t>
            </a:fld>
            <a:endParaRPr lang="en-IN"/>
          </a:p>
        </p:txBody>
      </p:sp>
    </p:spTree>
    <p:extLst>
      <p:ext uri="{BB962C8B-B14F-4D97-AF65-F5344CB8AC3E}">
        <p14:creationId xmlns:p14="http://schemas.microsoft.com/office/powerpoint/2010/main" val="40797960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4382512F-EFB7-48ED-A504-D985BEC28A17}" type="datetime1">
              <a:rPr lang="en-IN" smtClean="0"/>
              <a:pPr/>
              <a:t>12-05-2025</a:t>
            </a:fld>
            <a:endParaRPr lang="en-IN"/>
          </a:p>
        </p:txBody>
      </p:sp>
      <p:sp>
        <p:nvSpPr>
          <p:cNvPr id="5" name="Footer Placeholder 4"/>
          <p:cNvSpPr>
            <a:spLocks noGrp="1"/>
          </p:cNvSpPr>
          <p:nvPr>
            <p:ph type="ftr" sz="quarter" idx="11"/>
          </p:nvPr>
        </p:nvSpPr>
        <p:spPr/>
        <p:txBody>
          <a:bodyPr/>
          <a:lstStyle/>
          <a:p>
            <a:r>
              <a:rPr lang="en-IN"/>
              <a:t>Department of ECE, KSSEM</a:t>
            </a:r>
          </a:p>
        </p:txBody>
      </p:sp>
      <p:sp>
        <p:nvSpPr>
          <p:cNvPr id="6" name="Slide Number Placeholder 5"/>
          <p:cNvSpPr>
            <a:spLocks noGrp="1"/>
          </p:cNvSpPr>
          <p:nvPr>
            <p:ph type="sldNum" sz="quarter" idx="12"/>
          </p:nvPr>
        </p:nvSpPr>
        <p:spPr/>
        <p:txBody>
          <a:bodyPr/>
          <a:lstStyle/>
          <a:p>
            <a:fld id="{383541B0-9FD5-4A78-847D-110BF599CECD}"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00878F8-4325-404E-B75F-52B05247AE17}" type="datetime1">
              <a:rPr lang="en-IN" smtClean="0"/>
              <a:pPr/>
              <a:t>12-05-2025</a:t>
            </a:fld>
            <a:endParaRPr lang="en-IN"/>
          </a:p>
        </p:txBody>
      </p:sp>
      <p:sp>
        <p:nvSpPr>
          <p:cNvPr id="5" name="Footer Placeholder 4"/>
          <p:cNvSpPr>
            <a:spLocks noGrp="1"/>
          </p:cNvSpPr>
          <p:nvPr>
            <p:ph type="ftr" sz="quarter" idx="11"/>
          </p:nvPr>
        </p:nvSpPr>
        <p:spPr/>
        <p:txBody>
          <a:bodyPr/>
          <a:lstStyle/>
          <a:p>
            <a:r>
              <a:rPr lang="en-IN"/>
              <a:t>Department of ECE, KSSEM</a:t>
            </a:r>
          </a:p>
        </p:txBody>
      </p:sp>
      <p:sp>
        <p:nvSpPr>
          <p:cNvPr id="6" name="Slide Number Placeholder 5"/>
          <p:cNvSpPr>
            <a:spLocks noGrp="1"/>
          </p:cNvSpPr>
          <p:nvPr>
            <p:ph type="sldNum" sz="quarter" idx="12"/>
          </p:nvPr>
        </p:nvSpPr>
        <p:spPr/>
        <p:txBody>
          <a:bodyPr/>
          <a:lstStyle/>
          <a:p>
            <a:fld id="{383541B0-9FD5-4A78-847D-110BF599CECD}"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3C3578-8300-4252-B4E2-7761A1A8A820}" type="datetime1">
              <a:rPr lang="en-IN" smtClean="0"/>
              <a:pPr/>
              <a:t>12-05-2025</a:t>
            </a:fld>
            <a:endParaRPr lang="en-IN"/>
          </a:p>
        </p:txBody>
      </p:sp>
      <p:sp>
        <p:nvSpPr>
          <p:cNvPr id="5" name="Footer Placeholder 4"/>
          <p:cNvSpPr>
            <a:spLocks noGrp="1"/>
          </p:cNvSpPr>
          <p:nvPr>
            <p:ph type="ftr" sz="quarter" idx="11"/>
          </p:nvPr>
        </p:nvSpPr>
        <p:spPr/>
        <p:txBody>
          <a:bodyPr/>
          <a:lstStyle/>
          <a:p>
            <a:r>
              <a:rPr lang="en-IN"/>
              <a:t>Department of ECE, KSSEM</a:t>
            </a:r>
          </a:p>
        </p:txBody>
      </p:sp>
      <p:sp>
        <p:nvSpPr>
          <p:cNvPr id="6" name="Slide Number Placeholder 5"/>
          <p:cNvSpPr>
            <a:spLocks noGrp="1"/>
          </p:cNvSpPr>
          <p:nvPr>
            <p:ph type="sldNum" sz="quarter" idx="12"/>
          </p:nvPr>
        </p:nvSpPr>
        <p:spPr/>
        <p:txBody>
          <a:bodyPr/>
          <a:lstStyle/>
          <a:p>
            <a:fld id="{383541B0-9FD5-4A78-847D-110BF599CECD}"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A27840F6-160D-4B54-84C2-517E6A03D4F2}" type="datetime1">
              <a:rPr lang="en-IN" smtClean="0"/>
              <a:pPr/>
              <a:t>12-05-2025</a:t>
            </a:fld>
            <a:endParaRPr lang="en-IN"/>
          </a:p>
        </p:txBody>
      </p:sp>
      <p:sp>
        <p:nvSpPr>
          <p:cNvPr id="6" name="Footer Placeholder 5"/>
          <p:cNvSpPr>
            <a:spLocks noGrp="1"/>
          </p:cNvSpPr>
          <p:nvPr>
            <p:ph type="ftr" sz="quarter" idx="11"/>
          </p:nvPr>
        </p:nvSpPr>
        <p:spPr/>
        <p:txBody>
          <a:bodyPr/>
          <a:lstStyle/>
          <a:p>
            <a:r>
              <a:rPr lang="en-IN"/>
              <a:t>Department of ECE, KSSEM</a:t>
            </a:r>
          </a:p>
        </p:txBody>
      </p:sp>
      <p:sp>
        <p:nvSpPr>
          <p:cNvPr id="7" name="Slide Number Placeholder 6"/>
          <p:cNvSpPr>
            <a:spLocks noGrp="1"/>
          </p:cNvSpPr>
          <p:nvPr>
            <p:ph type="sldNum" sz="quarter" idx="12"/>
          </p:nvPr>
        </p:nvSpPr>
        <p:spPr/>
        <p:txBody>
          <a:bodyPr/>
          <a:lstStyle/>
          <a:p>
            <a:fld id="{383541B0-9FD5-4A78-847D-110BF599CECD}"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B476D9F1-46DF-4779-99C1-8D8B92078FA4}" type="datetime1">
              <a:rPr lang="en-IN" smtClean="0"/>
              <a:pPr/>
              <a:t>12-05-2025</a:t>
            </a:fld>
            <a:endParaRPr lang="en-IN"/>
          </a:p>
        </p:txBody>
      </p:sp>
      <p:sp>
        <p:nvSpPr>
          <p:cNvPr id="8" name="Footer Placeholder 7"/>
          <p:cNvSpPr>
            <a:spLocks noGrp="1"/>
          </p:cNvSpPr>
          <p:nvPr>
            <p:ph type="ftr" sz="quarter" idx="11"/>
          </p:nvPr>
        </p:nvSpPr>
        <p:spPr/>
        <p:txBody>
          <a:bodyPr/>
          <a:lstStyle/>
          <a:p>
            <a:r>
              <a:rPr lang="en-IN"/>
              <a:t>Department of ECE, KSSEM</a:t>
            </a:r>
          </a:p>
        </p:txBody>
      </p:sp>
      <p:sp>
        <p:nvSpPr>
          <p:cNvPr id="9" name="Slide Number Placeholder 8"/>
          <p:cNvSpPr>
            <a:spLocks noGrp="1"/>
          </p:cNvSpPr>
          <p:nvPr>
            <p:ph type="sldNum" sz="quarter" idx="12"/>
          </p:nvPr>
        </p:nvSpPr>
        <p:spPr/>
        <p:txBody>
          <a:bodyPr/>
          <a:lstStyle/>
          <a:p>
            <a:fld id="{383541B0-9FD5-4A78-847D-110BF599CECD}"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71EF5BA4-7B64-4FA9-89EF-0F8A269DDC20}" type="datetime1">
              <a:rPr lang="en-IN" smtClean="0"/>
              <a:pPr/>
              <a:t>12-05-2025</a:t>
            </a:fld>
            <a:endParaRPr lang="en-IN"/>
          </a:p>
        </p:txBody>
      </p:sp>
      <p:sp>
        <p:nvSpPr>
          <p:cNvPr id="4" name="Footer Placeholder 3"/>
          <p:cNvSpPr>
            <a:spLocks noGrp="1"/>
          </p:cNvSpPr>
          <p:nvPr>
            <p:ph type="ftr" sz="quarter" idx="11"/>
          </p:nvPr>
        </p:nvSpPr>
        <p:spPr/>
        <p:txBody>
          <a:bodyPr/>
          <a:lstStyle/>
          <a:p>
            <a:r>
              <a:rPr lang="en-IN"/>
              <a:t>Department of ECE, KSSEM</a:t>
            </a:r>
          </a:p>
        </p:txBody>
      </p:sp>
      <p:sp>
        <p:nvSpPr>
          <p:cNvPr id="5" name="Slide Number Placeholder 4"/>
          <p:cNvSpPr>
            <a:spLocks noGrp="1"/>
          </p:cNvSpPr>
          <p:nvPr>
            <p:ph type="sldNum" sz="quarter" idx="12"/>
          </p:nvPr>
        </p:nvSpPr>
        <p:spPr/>
        <p:txBody>
          <a:bodyPr/>
          <a:lstStyle/>
          <a:p>
            <a:fld id="{383541B0-9FD5-4A78-847D-110BF599CECD}"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D1F069-EC6E-42AF-AC1A-401469482094}" type="datetime1">
              <a:rPr lang="en-IN" smtClean="0"/>
              <a:pPr/>
              <a:t>12-05-2025</a:t>
            </a:fld>
            <a:endParaRPr lang="en-IN"/>
          </a:p>
        </p:txBody>
      </p:sp>
      <p:sp>
        <p:nvSpPr>
          <p:cNvPr id="3" name="Footer Placeholder 2"/>
          <p:cNvSpPr>
            <a:spLocks noGrp="1"/>
          </p:cNvSpPr>
          <p:nvPr>
            <p:ph type="ftr" sz="quarter" idx="11"/>
          </p:nvPr>
        </p:nvSpPr>
        <p:spPr/>
        <p:txBody>
          <a:bodyPr/>
          <a:lstStyle/>
          <a:p>
            <a:r>
              <a:rPr lang="en-IN"/>
              <a:t>Department of ECE, KSSEM</a:t>
            </a:r>
          </a:p>
        </p:txBody>
      </p:sp>
      <p:sp>
        <p:nvSpPr>
          <p:cNvPr id="4" name="Slide Number Placeholder 3"/>
          <p:cNvSpPr>
            <a:spLocks noGrp="1"/>
          </p:cNvSpPr>
          <p:nvPr>
            <p:ph type="sldNum" sz="quarter" idx="12"/>
          </p:nvPr>
        </p:nvSpPr>
        <p:spPr/>
        <p:txBody>
          <a:bodyPr/>
          <a:lstStyle/>
          <a:p>
            <a:fld id="{383541B0-9FD5-4A78-847D-110BF599CECD}"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4D89405-8765-4064-A927-8A5B8B223E34}" type="datetime1">
              <a:rPr lang="en-IN" smtClean="0"/>
              <a:pPr/>
              <a:t>12-05-2025</a:t>
            </a:fld>
            <a:endParaRPr lang="en-IN"/>
          </a:p>
        </p:txBody>
      </p:sp>
      <p:sp>
        <p:nvSpPr>
          <p:cNvPr id="6" name="Footer Placeholder 5"/>
          <p:cNvSpPr>
            <a:spLocks noGrp="1"/>
          </p:cNvSpPr>
          <p:nvPr>
            <p:ph type="ftr" sz="quarter" idx="11"/>
          </p:nvPr>
        </p:nvSpPr>
        <p:spPr/>
        <p:txBody>
          <a:bodyPr/>
          <a:lstStyle/>
          <a:p>
            <a:r>
              <a:rPr lang="en-IN"/>
              <a:t>Department of ECE, KSSEM</a:t>
            </a:r>
          </a:p>
        </p:txBody>
      </p:sp>
      <p:sp>
        <p:nvSpPr>
          <p:cNvPr id="7" name="Slide Number Placeholder 6"/>
          <p:cNvSpPr>
            <a:spLocks noGrp="1"/>
          </p:cNvSpPr>
          <p:nvPr>
            <p:ph type="sldNum" sz="quarter" idx="12"/>
          </p:nvPr>
        </p:nvSpPr>
        <p:spPr/>
        <p:txBody>
          <a:bodyPr/>
          <a:lstStyle/>
          <a:p>
            <a:fld id="{383541B0-9FD5-4A78-847D-110BF599CECD}"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8FB9113-66B2-47CF-9437-66326B652C0F}" type="datetime1">
              <a:rPr lang="en-IN" smtClean="0"/>
              <a:pPr/>
              <a:t>12-05-2025</a:t>
            </a:fld>
            <a:endParaRPr lang="en-IN"/>
          </a:p>
        </p:txBody>
      </p:sp>
      <p:sp>
        <p:nvSpPr>
          <p:cNvPr id="6" name="Footer Placeholder 5"/>
          <p:cNvSpPr>
            <a:spLocks noGrp="1"/>
          </p:cNvSpPr>
          <p:nvPr>
            <p:ph type="ftr" sz="quarter" idx="11"/>
          </p:nvPr>
        </p:nvSpPr>
        <p:spPr/>
        <p:txBody>
          <a:bodyPr/>
          <a:lstStyle/>
          <a:p>
            <a:r>
              <a:rPr lang="en-IN"/>
              <a:t>Department of ECE, KSSEM</a:t>
            </a:r>
          </a:p>
        </p:txBody>
      </p:sp>
      <p:sp>
        <p:nvSpPr>
          <p:cNvPr id="7" name="Slide Number Placeholder 6"/>
          <p:cNvSpPr>
            <a:spLocks noGrp="1"/>
          </p:cNvSpPr>
          <p:nvPr>
            <p:ph type="sldNum" sz="quarter" idx="12"/>
          </p:nvPr>
        </p:nvSpPr>
        <p:spPr/>
        <p:txBody>
          <a:bodyPr/>
          <a:lstStyle/>
          <a:p>
            <a:fld id="{383541B0-9FD5-4A78-847D-110BF599CECD}"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CE11F7A-6638-4FB4-B884-C3FFFBAB0EF4}" type="datetime1">
              <a:rPr lang="en-IN" smtClean="0"/>
              <a:pPr/>
              <a:t>12-05-2025</a:t>
            </a:fld>
            <a:endParaRPr lang="en-IN"/>
          </a:p>
        </p:txBody>
      </p:sp>
      <p:sp>
        <p:nvSpPr>
          <p:cNvPr id="5" name="Footer Placeholder 4"/>
          <p:cNvSpPr>
            <a:spLocks noGrp="1"/>
          </p:cNvSpPr>
          <p:nvPr>
            <p:ph type="ftr" sz="quarter" idx="11"/>
          </p:nvPr>
        </p:nvSpPr>
        <p:spPr/>
        <p:txBody>
          <a:bodyPr/>
          <a:lstStyle/>
          <a:p>
            <a:r>
              <a:rPr lang="en-IN"/>
              <a:t>Department of ECE, KSSEM</a:t>
            </a:r>
          </a:p>
        </p:txBody>
      </p:sp>
      <p:sp>
        <p:nvSpPr>
          <p:cNvPr id="6" name="Slide Number Placeholder 5"/>
          <p:cNvSpPr>
            <a:spLocks noGrp="1"/>
          </p:cNvSpPr>
          <p:nvPr>
            <p:ph type="sldNum" sz="quarter" idx="12"/>
          </p:nvPr>
        </p:nvSpPr>
        <p:spPr/>
        <p:txBody>
          <a:bodyPr/>
          <a:lstStyle/>
          <a:p>
            <a:fld id="{383541B0-9FD5-4A78-847D-110BF599CECD}"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6A50E71-EFC1-418B-AD3E-9781D97CD937}" type="datetime1">
              <a:rPr lang="en-IN" smtClean="0"/>
              <a:pPr/>
              <a:t>12-05-2025</a:t>
            </a:fld>
            <a:endParaRPr lang="en-IN"/>
          </a:p>
        </p:txBody>
      </p:sp>
      <p:sp>
        <p:nvSpPr>
          <p:cNvPr id="5" name="Footer Placeholder 4"/>
          <p:cNvSpPr>
            <a:spLocks noGrp="1"/>
          </p:cNvSpPr>
          <p:nvPr>
            <p:ph type="ftr" sz="quarter" idx="11"/>
          </p:nvPr>
        </p:nvSpPr>
        <p:spPr/>
        <p:txBody>
          <a:bodyPr/>
          <a:lstStyle/>
          <a:p>
            <a:r>
              <a:rPr lang="en-IN"/>
              <a:t>Department of ECE, KSSEM</a:t>
            </a:r>
          </a:p>
        </p:txBody>
      </p:sp>
      <p:sp>
        <p:nvSpPr>
          <p:cNvPr id="6" name="Slide Number Placeholder 5"/>
          <p:cNvSpPr>
            <a:spLocks noGrp="1"/>
          </p:cNvSpPr>
          <p:nvPr>
            <p:ph type="sldNum" sz="quarter" idx="12"/>
          </p:nvPr>
        </p:nvSpPr>
        <p:spPr/>
        <p:txBody>
          <a:bodyPr/>
          <a:lstStyle/>
          <a:p>
            <a:fld id="{383541B0-9FD5-4A78-847D-110BF599CECD}"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90EC15-8AD1-4E30-98C1-76F904C37850}" type="datetime1">
              <a:rPr lang="en-IN" smtClean="0"/>
              <a:pPr/>
              <a:t>12-05-2025</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Department of ECE, KSSEM</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3541B0-9FD5-4A78-847D-110BF599CECD}"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9512" y="260648"/>
            <a:ext cx="8784976" cy="4741119"/>
          </a:xfrm>
        </p:spPr>
        <p:txBody>
          <a:bodyPr>
            <a:normAutofit fontScale="90000"/>
          </a:bodyPr>
          <a:lstStyle/>
          <a:p>
            <a:r>
              <a:rPr lang="en-IN" dirty="0"/>
              <a:t>        </a:t>
            </a:r>
            <a:r>
              <a:rPr lang="en-IN" sz="2200" b="1" dirty="0">
                <a:latin typeface="Times New Roman" pitchFamily="18" charset="0"/>
                <a:ea typeface="+mn-ea"/>
                <a:cs typeface="Times New Roman" pitchFamily="18" charset="0"/>
              </a:rPr>
              <a:t>K.S. SCHOOL OF ENGINEERING AND MANAGEMENT</a:t>
            </a:r>
            <a:br>
              <a:rPr lang="en-IN" sz="2200" b="1" dirty="0">
                <a:latin typeface="Times New Roman" pitchFamily="18" charset="0"/>
                <a:ea typeface="+mn-ea"/>
                <a:cs typeface="Times New Roman" pitchFamily="18" charset="0"/>
              </a:rPr>
            </a:br>
            <a:r>
              <a:rPr lang="en-IN" sz="1800" b="1" dirty="0">
                <a:latin typeface="Times New Roman" pitchFamily="18" charset="0"/>
                <a:ea typeface="+mn-ea"/>
                <a:cs typeface="Times New Roman" pitchFamily="18" charset="0"/>
              </a:rPr>
              <a:t>                   DEPARTMENT OF ELECTRONICS AND COMMUNICATION ENGINEERING</a:t>
            </a:r>
            <a:r>
              <a:rPr lang="en-IN" sz="2700" b="1" dirty="0">
                <a:latin typeface="Times New Roman" pitchFamily="18" charset="0"/>
                <a:ea typeface="+mn-ea"/>
                <a:cs typeface="Times New Roman" pitchFamily="18" charset="0"/>
              </a:rPr>
              <a:t/>
            </a:r>
            <a:br>
              <a:rPr lang="en-IN" sz="2700" b="1" dirty="0">
                <a:latin typeface="Times New Roman" pitchFamily="18" charset="0"/>
                <a:ea typeface="+mn-ea"/>
                <a:cs typeface="Times New Roman" pitchFamily="18" charset="0"/>
              </a:rPr>
            </a:br>
            <a:r>
              <a:rPr lang="en-IN" sz="2700" b="1" dirty="0" smtClean="0">
                <a:latin typeface="Times New Roman" pitchFamily="18" charset="0"/>
                <a:ea typeface="+mn-ea"/>
                <a:cs typeface="Times New Roman" pitchFamily="18" charset="0"/>
              </a:rPr>
              <a:t/>
            </a:r>
            <a:br>
              <a:rPr lang="en-IN" sz="2700" b="1" dirty="0" smtClean="0">
                <a:latin typeface="Times New Roman" pitchFamily="18" charset="0"/>
                <a:ea typeface="+mn-ea"/>
                <a:cs typeface="Times New Roman" pitchFamily="18" charset="0"/>
              </a:rPr>
            </a:br>
            <a:r>
              <a:rPr lang="en-IN" sz="2700" b="1" dirty="0">
                <a:latin typeface="Times New Roman" pitchFamily="18" charset="0"/>
                <a:ea typeface="+mn-ea"/>
                <a:cs typeface="Times New Roman" pitchFamily="18" charset="0"/>
              </a:rPr>
              <a:t/>
            </a:r>
            <a:br>
              <a:rPr lang="en-IN" sz="2700" b="1" dirty="0">
                <a:latin typeface="Times New Roman" pitchFamily="18" charset="0"/>
                <a:ea typeface="+mn-ea"/>
                <a:cs typeface="Times New Roman" pitchFamily="18" charset="0"/>
              </a:rPr>
            </a:br>
            <a:r>
              <a:rPr lang="en-IN" sz="2700" b="1" dirty="0">
                <a:latin typeface="Times New Roman" pitchFamily="18" charset="0"/>
                <a:ea typeface="+mn-ea"/>
                <a:cs typeface="Times New Roman" pitchFamily="18" charset="0"/>
              </a:rPr>
              <a:t> </a:t>
            </a:r>
            <a:r>
              <a:rPr lang="en-IN" sz="2700" dirty="0">
                <a:latin typeface="Times New Roman" pitchFamily="18" charset="0"/>
                <a:ea typeface="+mn-ea"/>
                <a:cs typeface="Times New Roman" pitchFamily="18" charset="0"/>
              </a:rPr>
              <a:t/>
            </a:r>
            <a:br>
              <a:rPr lang="en-IN" sz="2700" dirty="0">
                <a:latin typeface="Times New Roman" pitchFamily="18" charset="0"/>
                <a:ea typeface="+mn-ea"/>
                <a:cs typeface="Times New Roman" pitchFamily="18" charset="0"/>
              </a:rPr>
            </a:br>
            <a:r>
              <a:rPr lang="en-IN" sz="3100" b="1" dirty="0">
                <a:latin typeface="Times New Roman" pitchFamily="18" charset="0"/>
                <a:ea typeface="+mn-ea"/>
                <a:cs typeface="Times New Roman" pitchFamily="18" charset="0"/>
              </a:rPr>
              <a:t> </a:t>
            </a:r>
            <a:r>
              <a:rPr lang="en-US" sz="3100" b="1" dirty="0">
                <a:latin typeface="Times New Roman" pitchFamily="18" charset="0"/>
                <a:ea typeface="+mn-ea"/>
                <a:cs typeface="Times New Roman" pitchFamily="18" charset="0"/>
              </a:rPr>
              <a:t>Presentation</a:t>
            </a:r>
            <a:r>
              <a:rPr lang="en-US" sz="2000" b="1" dirty="0">
                <a:latin typeface="Times New Roman" pitchFamily="18" charset="0"/>
                <a:ea typeface="+mn-ea"/>
                <a:cs typeface="Times New Roman" pitchFamily="18" charset="0"/>
              </a:rPr>
              <a:t/>
            </a:r>
            <a:br>
              <a:rPr lang="en-US" sz="2000" b="1" dirty="0">
                <a:latin typeface="Times New Roman" pitchFamily="18" charset="0"/>
                <a:ea typeface="+mn-ea"/>
                <a:cs typeface="Times New Roman" pitchFamily="18" charset="0"/>
              </a:rPr>
            </a:br>
            <a:r>
              <a:rPr lang="en-US" sz="3100" b="1" dirty="0">
                <a:latin typeface="Times New Roman" pitchFamily="18" charset="0"/>
                <a:ea typeface="+mn-ea"/>
                <a:cs typeface="Times New Roman" pitchFamily="18" charset="0"/>
              </a:rPr>
              <a:t>on</a:t>
            </a:r>
            <a:r>
              <a:rPr lang="en-US" sz="2000" b="1" dirty="0">
                <a:latin typeface="Times New Roman" pitchFamily="18" charset="0"/>
                <a:ea typeface="+mn-ea"/>
                <a:cs typeface="Times New Roman" pitchFamily="18" charset="0"/>
              </a:rPr>
              <a:t/>
            </a:r>
            <a:br>
              <a:rPr lang="en-US" sz="2000" b="1" dirty="0">
                <a:latin typeface="Times New Roman" pitchFamily="18" charset="0"/>
                <a:ea typeface="+mn-ea"/>
                <a:cs typeface="Times New Roman" pitchFamily="18" charset="0"/>
              </a:rPr>
            </a:br>
            <a:r>
              <a:rPr lang="en-US" sz="2000" b="1" dirty="0">
                <a:latin typeface="Times New Roman" pitchFamily="18" charset="0"/>
                <a:ea typeface="+mn-ea"/>
                <a:cs typeface="Times New Roman" pitchFamily="18" charset="0"/>
              </a:rPr>
              <a:t> </a:t>
            </a:r>
            <a:r>
              <a:rPr lang="en-US" sz="3100" b="1" dirty="0">
                <a:latin typeface="Times New Roman" pitchFamily="18" charset="0"/>
                <a:ea typeface="+mn-ea"/>
                <a:cs typeface="Times New Roman" pitchFamily="18" charset="0"/>
              </a:rPr>
              <a:t>Title of the project</a:t>
            </a:r>
            <a:r>
              <a:rPr lang="en-US" dirty="0"/>
              <a:t/>
            </a:r>
            <a:br>
              <a:rPr lang="en-US" dirty="0"/>
            </a:br>
            <a:r>
              <a:rPr lang="en" sz="2700" b="1" dirty="0">
                <a:latin typeface="Times New Roman"/>
                <a:ea typeface="Times New Roman"/>
                <a:cs typeface="Times New Roman"/>
                <a:sym typeface="Times New Roman"/>
              </a:rPr>
              <a:t>Real Time Responsive Automated Window and Water Supply Operator for Indoor Plantations using IOT</a:t>
            </a:r>
            <a:endParaRPr lang="en-IN" sz="2700" dirty="0"/>
          </a:p>
        </p:txBody>
      </p:sp>
      <p:pic>
        <p:nvPicPr>
          <p:cNvPr id="4" name="image1.jpg" descr="http://www.ksit.ac.in/imgs/logo.jpg"/>
          <p:cNvPicPr/>
          <p:nvPr/>
        </p:nvPicPr>
        <p:blipFill>
          <a:blip r:embed="rId3" cstate="print"/>
          <a:srcRect/>
          <a:stretch>
            <a:fillRect/>
          </a:stretch>
        </p:blipFill>
        <p:spPr>
          <a:xfrm>
            <a:off x="558280" y="764704"/>
            <a:ext cx="812800" cy="720080"/>
          </a:xfrm>
          <a:prstGeom prst="rect">
            <a:avLst/>
          </a:prstGeom>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04665"/>
            <a:ext cx="7772400" cy="1152127"/>
          </a:xfrm>
        </p:spPr>
        <p:txBody>
          <a:bodyPr/>
          <a:lstStyle/>
          <a:p>
            <a:r>
              <a:rPr lang="en-US" b="1" dirty="0">
                <a:latin typeface="Times New Roman" pitchFamily="18" charset="0"/>
                <a:cs typeface="Times New Roman" pitchFamily="18" charset="0"/>
              </a:rPr>
              <a:t>Introduction</a:t>
            </a:r>
            <a:endParaRPr lang="en-IN" b="1"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r>
              <a:rPr lang="en-US" sz="1800" dirty="0">
                <a:solidFill>
                  <a:schemeClr val="tx1"/>
                </a:solidFill>
                <a:latin typeface="Times New Roman" pitchFamily="18" charset="0"/>
                <a:cs typeface="Times New Roman" pitchFamily="18" charset="0"/>
              </a:rPr>
              <a:t>1</a:t>
            </a:r>
            <a:endParaRPr lang="en-IN" sz="1800" dirty="0">
              <a:solidFill>
                <a:schemeClr val="tx1"/>
              </a:solidFill>
              <a:latin typeface="Times New Roman" pitchFamily="18" charset="0"/>
              <a:cs typeface="Times New Roman" pitchFamily="18" charset="0"/>
            </a:endParaRPr>
          </a:p>
        </p:txBody>
      </p:sp>
      <p:sp>
        <p:nvSpPr>
          <p:cNvPr id="7" name="TextBox 6">
            <a:extLst>
              <a:ext uri="{FF2B5EF4-FFF2-40B4-BE49-F238E27FC236}">
                <a16:creationId xmlns:a16="http://schemas.microsoft.com/office/drawing/2014/main" id="{1CB50E23-BD39-050B-BAC3-F3C6D5D26EBF}"/>
              </a:ext>
            </a:extLst>
          </p:cNvPr>
          <p:cNvSpPr txBox="1"/>
          <p:nvPr/>
        </p:nvSpPr>
        <p:spPr>
          <a:xfrm>
            <a:off x="477888" y="1278037"/>
            <a:ext cx="8208912" cy="4524315"/>
          </a:xfrm>
          <a:prstGeom prst="rect">
            <a:avLst/>
          </a:prstGeom>
          <a:noFill/>
        </p:spPr>
        <p:txBody>
          <a:bodyPr wrap="square">
            <a:spAutoFit/>
          </a:bodyPr>
          <a:lstStyle/>
          <a:p>
            <a:pPr marL="342900" indent="-342900" algn="just">
              <a:buFont typeface="+mj-lt"/>
              <a:buAutoNum type="arabicPeriod"/>
            </a:pPr>
            <a:r>
              <a:rPr lang="en-US" sz="1600" dirty="0">
                <a:latin typeface="Times New Roman" panose="02020603050405020304" pitchFamily="18" charset="0"/>
                <a:cs typeface="Times New Roman" panose="02020603050405020304" pitchFamily="18" charset="0"/>
              </a:rPr>
              <a:t>In the modern agricultural landscape, efficient resource management is crucial for sustainable farming practices. Our project focuses on developing a simple embedded system with multiple functions to address key agricultural challenges. The system is designed to automate irrigation and temperature control, thereby optimizing water usage and maintaining optimal environmental conditions for crops. The core components of this embedded system include:</a:t>
            </a:r>
          </a:p>
          <a:p>
            <a:pPr marL="342900" indent="-342900" algn="just">
              <a:buFont typeface="+mj-lt"/>
              <a:buAutoNum type="arabicPeriod"/>
            </a:pPr>
            <a:r>
              <a:rPr lang="en-US" sz="1600" b="1" dirty="0">
                <a:latin typeface="Times New Roman" panose="02020603050405020304" pitchFamily="18" charset="0"/>
                <a:cs typeface="Times New Roman" panose="02020603050405020304" pitchFamily="18" charset="0"/>
              </a:rPr>
              <a:t>Soil Moisture Sensor</a:t>
            </a:r>
            <a:r>
              <a:rPr lang="en-US" sz="1600" dirty="0">
                <a:latin typeface="Times New Roman" panose="02020603050405020304" pitchFamily="18" charset="0"/>
                <a:cs typeface="Times New Roman" panose="02020603050405020304" pitchFamily="18" charset="0"/>
              </a:rPr>
              <a:t>: This sensor continuously monitors the soil moisture levels. When the moisture level falls below a predefined threshold, it triggers a water pump to irrigate the soil automatically.</a:t>
            </a:r>
          </a:p>
          <a:p>
            <a:pPr marL="342900" indent="-342900" algn="just">
              <a:buFont typeface="+mj-lt"/>
              <a:buAutoNum type="arabicPeriod"/>
            </a:pPr>
            <a:r>
              <a:rPr lang="en-US" sz="1600" b="1" dirty="0">
                <a:latin typeface="Times New Roman" panose="02020603050405020304" pitchFamily="18" charset="0"/>
                <a:cs typeface="Times New Roman" panose="02020603050405020304" pitchFamily="18" charset="0"/>
              </a:rPr>
              <a:t>Water Pump</a:t>
            </a:r>
            <a:r>
              <a:rPr lang="en-US" sz="1600" dirty="0">
                <a:latin typeface="Times New Roman" panose="02020603050405020304" pitchFamily="18" charset="0"/>
                <a:cs typeface="Times New Roman" panose="02020603050405020304" pitchFamily="18" charset="0"/>
              </a:rPr>
              <a:t>: Activated by the soil moisture sensor, the water pump ensures that the soil maintains adequate moisture levels, reducing water wastage and improving crop health.</a:t>
            </a:r>
          </a:p>
          <a:p>
            <a:pPr marL="342900" indent="-342900" algn="just">
              <a:buFont typeface="+mj-lt"/>
              <a:buAutoNum type="arabicPeriod"/>
            </a:pPr>
            <a:r>
              <a:rPr lang="en-US" sz="1600" b="1" dirty="0">
                <a:latin typeface="Times New Roman" panose="02020603050405020304" pitchFamily="18" charset="0"/>
                <a:cs typeface="Times New Roman" panose="02020603050405020304" pitchFamily="18" charset="0"/>
              </a:rPr>
              <a:t>DHT11 Sensor</a:t>
            </a:r>
            <a:r>
              <a:rPr lang="en-US" sz="1600" dirty="0">
                <a:latin typeface="Times New Roman" panose="02020603050405020304" pitchFamily="18" charset="0"/>
                <a:cs typeface="Times New Roman" panose="02020603050405020304" pitchFamily="18" charset="0"/>
              </a:rPr>
              <a:t>: This sensor measures the ambient temperature. If the temperature exceeds a certain limit, it activates a stepper motor to open a window, allowing ventilation to cool down the environment.</a:t>
            </a:r>
          </a:p>
          <a:p>
            <a:pPr marL="342900" indent="-342900" algn="just">
              <a:buFont typeface="+mj-lt"/>
              <a:buAutoNum type="arabicPeriod"/>
            </a:pPr>
            <a:r>
              <a:rPr lang="en-US" sz="1600" b="1" dirty="0">
                <a:latin typeface="Times New Roman" panose="02020603050405020304" pitchFamily="18" charset="0"/>
                <a:cs typeface="Times New Roman" panose="02020603050405020304" pitchFamily="18" charset="0"/>
              </a:rPr>
              <a:t>Stepper Motor</a:t>
            </a:r>
            <a:r>
              <a:rPr lang="en-US" sz="1600" dirty="0">
                <a:latin typeface="Times New Roman" panose="02020603050405020304" pitchFamily="18" charset="0"/>
                <a:cs typeface="Times New Roman" panose="02020603050405020304" pitchFamily="18" charset="0"/>
              </a:rPr>
              <a:t>: Controlled by the DHT11 sensor, the stepper motor manages the opening and closing of a window to regulate the temperature.</a:t>
            </a:r>
          </a:p>
          <a:p>
            <a:pPr marL="342900" indent="-342900" algn="just">
              <a:buFont typeface="+mj-lt"/>
              <a:buAutoNum type="arabicPeriod"/>
            </a:pPr>
            <a:r>
              <a:rPr lang="en-US" sz="1600" dirty="0">
                <a:latin typeface="Times New Roman" panose="02020603050405020304" pitchFamily="18" charset="0"/>
                <a:cs typeface="Times New Roman" panose="02020603050405020304" pitchFamily="18" charset="0"/>
              </a:rPr>
              <a:t>By integrating these components, our embedded system provides an automated solution for efficient irrigation and temperature management. This project aims to enhance agricultural productivity, conserve water, and create a more sustainable farming environment.</a:t>
            </a:r>
            <a:endParaRPr lang="en-IN"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04665"/>
            <a:ext cx="7772400" cy="1152127"/>
          </a:xfrm>
        </p:spPr>
        <p:txBody>
          <a:bodyPr/>
          <a:lstStyle/>
          <a:p>
            <a:r>
              <a:rPr lang="en-US" b="1" dirty="0">
                <a:latin typeface="Times New Roman" pitchFamily="18" charset="0"/>
                <a:cs typeface="Times New Roman" pitchFamily="18" charset="0"/>
              </a:rPr>
              <a:t>Literature Review</a:t>
            </a:r>
            <a:endParaRPr lang="en-IN" b="1"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r>
              <a:rPr lang="en-US" sz="1800" dirty="0">
                <a:solidFill>
                  <a:schemeClr val="tx1"/>
                </a:solidFill>
                <a:latin typeface="Times New Roman" pitchFamily="18" charset="0"/>
                <a:cs typeface="Times New Roman" pitchFamily="18" charset="0"/>
              </a:rPr>
              <a:t>2</a:t>
            </a:r>
            <a:endParaRPr lang="en-IN" sz="1800" dirty="0">
              <a:solidFill>
                <a:schemeClr val="tx1"/>
              </a:solidFill>
              <a:latin typeface="Times New Roman" pitchFamily="18" charset="0"/>
              <a:cs typeface="Times New Roman" pitchFamily="18" charset="0"/>
            </a:endParaRPr>
          </a:p>
        </p:txBody>
      </p:sp>
      <p:graphicFrame>
        <p:nvGraphicFramePr>
          <p:cNvPr id="3" name="Content Placeholder 4">
            <a:extLst>
              <a:ext uri="{FF2B5EF4-FFF2-40B4-BE49-F238E27FC236}">
                <a16:creationId xmlns:a16="http://schemas.microsoft.com/office/drawing/2014/main" id="{1DEB5D4D-BF7F-1F28-BCFC-4FFE8F75E83C}"/>
              </a:ext>
            </a:extLst>
          </p:cNvPr>
          <p:cNvGraphicFramePr>
            <a:graphicFrameLocks/>
          </p:cNvGraphicFramePr>
          <p:nvPr>
            <p:extLst>
              <p:ext uri="{D42A27DB-BD31-4B8C-83A1-F6EECF244321}">
                <p14:modId xmlns:p14="http://schemas.microsoft.com/office/powerpoint/2010/main" val="129078528"/>
              </p:ext>
            </p:extLst>
          </p:nvPr>
        </p:nvGraphicFramePr>
        <p:xfrm>
          <a:off x="539552" y="1306335"/>
          <a:ext cx="8352928" cy="5059680"/>
        </p:xfrm>
        <a:graphic>
          <a:graphicData uri="http://schemas.openxmlformats.org/drawingml/2006/table">
            <a:tbl>
              <a:tblPr firstRow="1" bandRow="1">
                <a:tableStyleId>{5C22544A-7EE6-4342-B048-85BDC9FD1C3A}</a:tableStyleId>
              </a:tblPr>
              <a:tblGrid>
                <a:gridCol w="522418">
                  <a:extLst>
                    <a:ext uri="{9D8B030D-6E8A-4147-A177-3AD203B41FA5}">
                      <a16:colId xmlns:a16="http://schemas.microsoft.com/office/drawing/2014/main" val="2020277209"/>
                    </a:ext>
                  </a:extLst>
                </a:gridCol>
                <a:gridCol w="1420160">
                  <a:extLst>
                    <a:ext uri="{9D8B030D-6E8A-4147-A177-3AD203B41FA5}">
                      <a16:colId xmlns:a16="http://schemas.microsoft.com/office/drawing/2014/main" val="386331611"/>
                    </a:ext>
                  </a:extLst>
                </a:gridCol>
                <a:gridCol w="1426670">
                  <a:extLst>
                    <a:ext uri="{9D8B030D-6E8A-4147-A177-3AD203B41FA5}">
                      <a16:colId xmlns:a16="http://schemas.microsoft.com/office/drawing/2014/main" val="507834936"/>
                    </a:ext>
                  </a:extLst>
                </a:gridCol>
                <a:gridCol w="3193824">
                  <a:extLst>
                    <a:ext uri="{9D8B030D-6E8A-4147-A177-3AD203B41FA5}">
                      <a16:colId xmlns:a16="http://schemas.microsoft.com/office/drawing/2014/main" val="14863364"/>
                    </a:ext>
                  </a:extLst>
                </a:gridCol>
                <a:gridCol w="1789856">
                  <a:extLst>
                    <a:ext uri="{9D8B030D-6E8A-4147-A177-3AD203B41FA5}">
                      <a16:colId xmlns:a16="http://schemas.microsoft.com/office/drawing/2014/main" val="1387847909"/>
                    </a:ext>
                  </a:extLst>
                </a:gridCol>
              </a:tblGrid>
              <a:tr h="622199">
                <a:tc>
                  <a:txBody>
                    <a:bodyPr/>
                    <a:lstStyle/>
                    <a:p>
                      <a:r>
                        <a:rPr lang="en-US" sz="2000" dirty="0">
                          <a:latin typeface="Times New Roman" panose="02020603050405020304" pitchFamily="18" charset="0"/>
                          <a:cs typeface="Times New Roman" panose="02020603050405020304" pitchFamily="18" charset="0"/>
                        </a:rPr>
                        <a:t>Sl.</a:t>
                      </a:r>
                    </a:p>
                    <a:p>
                      <a:r>
                        <a:rPr lang="en-US" sz="2000" dirty="0">
                          <a:latin typeface="Times New Roman" panose="02020603050405020304" pitchFamily="18" charset="0"/>
                          <a:cs typeface="Times New Roman" panose="02020603050405020304" pitchFamily="18" charset="0"/>
                        </a:rPr>
                        <a:t>No</a:t>
                      </a:r>
                    </a:p>
                  </a:txBody>
                  <a:tcPr>
                    <a:solidFill>
                      <a:schemeClr val="tx2">
                        <a:lumMod val="75000"/>
                      </a:schemeClr>
                    </a:solidFill>
                  </a:tcPr>
                </a:tc>
                <a:tc>
                  <a:txBody>
                    <a:bodyPr/>
                    <a:lstStyle/>
                    <a:p>
                      <a:r>
                        <a:rPr lang="en-US" sz="2000" dirty="0">
                          <a:latin typeface="Times New Roman" panose="02020603050405020304" pitchFamily="18" charset="0"/>
                          <a:cs typeface="Times New Roman" panose="02020603050405020304" pitchFamily="18" charset="0"/>
                        </a:rPr>
                        <a:t>Year</a:t>
                      </a:r>
                      <a:r>
                        <a:rPr lang="en-US" sz="2000" baseline="0" dirty="0">
                          <a:latin typeface="Times New Roman" panose="02020603050405020304" pitchFamily="18" charset="0"/>
                          <a:cs typeface="Times New Roman" panose="02020603050405020304" pitchFamily="18" charset="0"/>
                        </a:rPr>
                        <a:t> of Publishing</a:t>
                      </a:r>
                      <a:endParaRPr lang="en-US" sz="2000" dirty="0">
                        <a:latin typeface="Times New Roman" panose="02020603050405020304" pitchFamily="18" charset="0"/>
                        <a:cs typeface="Times New Roman" panose="02020603050405020304" pitchFamily="18" charset="0"/>
                      </a:endParaRPr>
                    </a:p>
                  </a:txBody>
                  <a:tcPr>
                    <a:solidFill>
                      <a:schemeClr val="tx2">
                        <a:lumMod val="75000"/>
                      </a:schemeClr>
                    </a:solidFill>
                  </a:tcPr>
                </a:tc>
                <a:tc>
                  <a:txBody>
                    <a:bodyPr/>
                    <a:lstStyle/>
                    <a:p>
                      <a:r>
                        <a:rPr lang="en-US" sz="2000" dirty="0">
                          <a:latin typeface="Times New Roman" panose="02020603050405020304" pitchFamily="18" charset="0"/>
                          <a:cs typeface="Times New Roman" panose="02020603050405020304" pitchFamily="18" charset="0"/>
                        </a:rPr>
                        <a:t>Paper Name</a:t>
                      </a:r>
                    </a:p>
                  </a:txBody>
                  <a:tcPr>
                    <a:solidFill>
                      <a:schemeClr val="tx2">
                        <a:lumMod val="75000"/>
                      </a:schemeClr>
                    </a:solidFill>
                  </a:tcPr>
                </a:tc>
                <a:tc>
                  <a:txBody>
                    <a:bodyPr/>
                    <a:lstStyle/>
                    <a:p>
                      <a:r>
                        <a:rPr lang="en-US" sz="2000" dirty="0">
                          <a:latin typeface="Times New Roman" panose="02020603050405020304" pitchFamily="18" charset="0"/>
                          <a:cs typeface="Times New Roman" panose="02020603050405020304" pitchFamily="18" charset="0"/>
                        </a:rPr>
                        <a:t>Content</a:t>
                      </a:r>
                    </a:p>
                  </a:txBody>
                  <a:tcPr>
                    <a:solidFill>
                      <a:schemeClr val="tx2">
                        <a:lumMod val="75000"/>
                      </a:schemeClr>
                    </a:solidFill>
                  </a:tcPr>
                </a:tc>
                <a:tc>
                  <a:txBody>
                    <a:bodyPr/>
                    <a:lstStyle/>
                    <a:p>
                      <a:r>
                        <a:rPr lang="en-US" sz="2000" dirty="0">
                          <a:latin typeface="Times New Roman" panose="02020603050405020304" pitchFamily="18" charset="0"/>
                          <a:cs typeface="Times New Roman" panose="02020603050405020304" pitchFamily="18" charset="0"/>
                        </a:rPr>
                        <a:t>Authors</a:t>
                      </a:r>
                    </a:p>
                  </a:txBody>
                  <a:tcPr>
                    <a:solidFill>
                      <a:schemeClr val="tx2">
                        <a:lumMod val="75000"/>
                      </a:schemeClr>
                    </a:solidFill>
                  </a:tcPr>
                </a:tc>
                <a:extLst>
                  <a:ext uri="{0D108BD9-81ED-4DB2-BD59-A6C34878D82A}">
                    <a16:rowId xmlns:a16="http://schemas.microsoft.com/office/drawing/2014/main" val="3573812659"/>
                  </a:ext>
                </a:extLst>
              </a:tr>
              <a:tr h="3842296">
                <a:tc>
                  <a:txBody>
                    <a:bodyPr/>
                    <a:lstStyle/>
                    <a:p>
                      <a:r>
                        <a:rPr lang="en-US" sz="2000" dirty="0">
                          <a:latin typeface="Times New Roman" panose="02020603050405020304" pitchFamily="18" charset="0"/>
                          <a:cs typeface="Times New Roman" panose="02020603050405020304" pitchFamily="18" charset="0"/>
                        </a:rPr>
                        <a:t>1.</a:t>
                      </a:r>
                    </a:p>
                  </a:txBody>
                  <a:tcPr>
                    <a:solidFill>
                      <a:schemeClr val="tx2">
                        <a:lumMod val="20000"/>
                        <a:lumOff val="80000"/>
                      </a:schemeClr>
                    </a:solidFill>
                  </a:tcPr>
                </a:tc>
                <a:tc>
                  <a:txBody>
                    <a:bodyPr/>
                    <a:lstStyle/>
                    <a:p>
                      <a:r>
                        <a:rPr lang="en-US" sz="2000" dirty="0">
                          <a:latin typeface="Times New Roman" panose="02020603050405020304" pitchFamily="18" charset="0"/>
                          <a:cs typeface="Times New Roman" panose="02020603050405020304" pitchFamily="18" charset="0"/>
                        </a:rPr>
                        <a:t>2018</a:t>
                      </a:r>
                    </a:p>
                  </a:txBody>
                  <a:tcPr>
                    <a:solidFill>
                      <a:schemeClr val="tx2">
                        <a:lumMod val="20000"/>
                        <a:lumOff val="80000"/>
                      </a:schemeClr>
                    </a:solidFill>
                  </a:tcPr>
                </a:tc>
                <a:tc>
                  <a:txBody>
                    <a:bodyPr/>
                    <a:lstStyle/>
                    <a:p>
                      <a:pPr algn="just"/>
                      <a:r>
                        <a:rPr lang="en-US" sz="2000" dirty="0">
                          <a:latin typeface="Times New Roman" panose="02020603050405020304" pitchFamily="18" charset="0"/>
                          <a:cs typeface="Times New Roman" panose="02020603050405020304" pitchFamily="18" charset="0"/>
                        </a:rPr>
                        <a:t>Automated Irrigation and Water Level Management System Using Raspberry Pi</a:t>
                      </a:r>
                      <a:r>
                        <a:rPr lang="en-US" sz="2000" baseline="0"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txBody>
                  <a:tcPr>
                    <a:solidFill>
                      <a:schemeClr val="tx2">
                        <a:lumMod val="20000"/>
                        <a:lumOff val="80000"/>
                      </a:schemeClr>
                    </a:solidFill>
                  </a:tcPr>
                </a:tc>
                <a:tc>
                  <a:txBody>
                    <a:bodyPr/>
                    <a:lstStyle/>
                    <a:p>
                      <a:pPr algn="just"/>
                      <a:r>
                        <a:rPr lang="en-US" sz="2000" dirty="0">
                          <a:latin typeface="Times New Roman" panose="02020603050405020304" pitchFamily="18" charset="0"/>
                          <a:cs typeface="Times New Roman" panose="02020603050405020304" pitchFamily="18" charset="0"/>
                        </a:rPr>
                        <a:t>Adequate Irrigation improves food security crisis, maintains parks and sport-fields in good condition. The city of Cape Town in South Africa is currently experiencing water scarcity due to lack of rainfall. This has been affecting all living beings and plants. So, an Automated Irrigation and Water Level Management System is proposed using Raspberry Pi.</a:t>
                      </a:r>
                    </a:p>
                  </a:txBody>
                  <a:tcPr>
                    <a:solidFill>
                      <a:schemeClr val="tx2">
                        <a:lumMod val="20000"/>
                        <a:lumOff val="80000"/>
                      </a:schemeClr>
                    </a:solidFill>
                  </a:tcPr>
                </a:tc>
                <a:tc>
                  <a:txBody>
                    <a:bodyPr/>
                    <a:lstStyle/>
                    <a:p>
                      <a:pPr algn="just"/>
                      <a:r>
                        <a:rPr lang="en-US" sz="2000" baseline="0" dirty="0" err="1">
                          <a:latin typeface="Times New Roman" panose="02020603050405020304" pitchFamily="18" charset="0"/>
                          <a:cs typeface="Times New Roman" panose="02020603050405020304" pitchFamily="18" charset="0"/>
                        </a:rPr>
                        <a:t>Nkosi,Sfiso</a:t>
                      </a:r>
                      <a:r>
                        <a:rPr lang="en-US" sz="2000" baseline="0" dirty="0">
                          <a:latin typeface="Times New Roman" panose="02020603050405020304" pitchFamily="18" charset="0"/>
                          <a:cs typeface="Times New Roman" panose="02020603050405020304" pitchFamily="18" charset="0"/>
                        </a:rPr>
                        <a:t> H;</a:t>
                      </a:r>
                    </a:p>
                    <a:p>
                      <a:pPr algn="just"/>
                      <a:r>
                        <a:rPr lang="en-US" sz="2000" baseline="0" dirty="0">
                          <a:latin typeface="Times New Roman" panose="02020603050405020304" pitchFamily="18" charset="0"/>
                          <a:cs typeface="Times New Roman" panose="02020603050405020304" pitchFamily="18" charset="0"/>
                        </a:rPr>
                        <a:t>Daniel Chowdhury.</a:t>
                      </a:r>
                    </a:p>
                    <a:p>
                      <a:pPr algn="just"/>
                      <a:endParaRPr lang="en-US" sz="2000" dirty="0">
                        <a:latin typeface="Times New Roman" panose="02020603050405020304" pitchFamily="18" charset="0"/>
                        <a:cs typeface="Times New Roman" panose="02020603050405020304" pitchFamily="18" charset="0"/>
                      </a:endParaRPr>
                    </a:p>
                  </a:txBody>
                  <a:tcPr>
                    <a:solidFill>
                      <a:schemeClr val="tx2">
                        <a:lumMod val="20000"/>
                        <a:lumOff val="80000"/>
                      </a:schemeClr>
                    </a:solidFill>
                  </a:tcPr>
                </a:tc>
                <a:extLst>
                  <a:ext uri="{0D108BD9-81ED-4DB2-BD59-A6C34878D82A}">
                    <a16:rowId xmlns:a16="http://schemas.microsoft.com/office/drawing/2014/main" val="4254505426"/>
                  </a:ext>
                </a:extLst>
              </a:tr>
            </a:tbl>
          </a:graphicData>
        </a:graphic>
      </p:graphicFrame>
    </p:spTree>
    <p:extLst>
      <p:ext uri="{BB962C8B-B14F-4D97-AF65-F5344CB8AC3E}">
        <p14:creationId xmlns:p14="http://schemas.microsoft.com/office/powerpoint/2010/main" val="29822956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6A982-68B9-E11B-3F21-51441D152CB2}"/>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3BEEB575-D28B-9D4E-43A5-F237B3502D5E}"/>
              </a:ext>
            </a:extLst>
          </p:cNvPr>
          <p:cNvSpPr>
            <a:spLocks noGrp="1"/>
          </p:cNvSpPr>
          <p:nvPr>
            <p:ph idx="1"/>
          </p:nvPr>
        </p:nvSpPr>
        <p:spPr/>
        <p:txBody>
          <a:bodyPr/>
          <a:lstStyle/>
          <a:p>
            <a:endParaRPr lang="en-IN" dirty="0"/>
          </a:p>
        </p:txBody>
      </p:sp>
      <p:sp>
        <p:nvSpPr>
          <p:cNvPr id="6" name="Slide Number Placeholder 5">
            <a:extLst>
              <a:ext uri="{FF2B5EF4-FFF2-40B4-BE49-F238E27FC236}">
                <a16:creationId xmlns:a16="http://schemas.microsoft.com/office/drawing/2014/main" id="{A8413AEA-146D-F4C0-7790-992F626A63B5}"/>
              </a:ext>
            </a:extLst>
          </p:cNvPr>
          <p:cNvSpPr>
            <a:spLocks noGrp="1"/>
          </p:cNvSpPr>
          <p:nvPr>
            <p:ph type="sldNum" sz="quarter" idx="12"/>
          </p:nvPr>
        </p:nvSpPr>
        <p:spPr>
          <a:xfrm>
            <a:off x="6553200" y="5925828"/>
            <a:ext cx="2133600" cy="365125"/>
          </a:xfrm>
        </p:spPr>
        <p:txBody>
          <a:bodyPr/>
          <a:lstStyle/>
          <a:p>
            <a:endParaRPr lang="en-IN" dirty="0"/>
          </a:p>
        </p:txBody>
      </p:sp>
      <p:graphicFrame>
        <p:nvGraphicFramePr>
          <p:cNvPr id="8" name="Content Placeholder 6">
            <a:extLst>
              <a:ext uri="{FF2B5EF4-FFF2-40B4-BE49-F238E27FC236}">
                <a16:creationId xmlns:a16="http://schemas.microsoft.com/office/drawing/2014/main" id="{E6C06417-3A2E-1F30-3534-0FA084EFFEE9}"/>
              </a:ext>
            </a:extLst>
          </p:cNvPr>
          <p:cNvGraphicFramePr>
            <a:graphicFrameLocks/>
          </p:cNvGraphicFramePr>
          <p:nvPr>
            <p:extLst>
              <p:ext uri="{D42A27DB-BD31-4B8C-83A1-F6EECF244321}">
                <p14:modId xmlns:p14="http://schemas.microsoft.com/office/powerpoint/2010/main" val="3591847746"/>
              </p:ext>
            </p:extLst>
          </p:nvPr>
        </p:nvGraphicFramePr>
        <p:xfrm>
          <a:off x="457200" y="258786"/>
          <a:ext cx="8317048" cy="6046104"/>
        </p:xfrm>
        <a:graphic>
          <a:graphicData uri="http://schemas.openxmlformats.org/drawingml/2006/table">
            <a:tbl>
              <a:tblPr firstRow="1" bandRow="1">
                <a:tableStyleId>{5C22544A-7EE6-4342-B048-85BDC9FD1C3A}</a:tableStyleId>
              </a:tblPr>
              <a:tblGrid>
                <a:gridCol w="426748">
                  <a:extLst>
                    <a:ext uri="{9D8B030D-6E8A-4147-A177-3AD203B41FA5}">
                      <a16:colId xmlns:a16="http://schemas.microsoft.com/office/drawing/2014/main" val="3278957179"/>
                    </a:ext>
                  </a:extLst>
                </a:gridCol>
                <a:gridCol w="710838">
                  <a:extLst>
                    <a:ext uri="{9D8B030D-6E8A-4147-A177-3AD203B41FA5}">
                      <a16:colId xmlns:a16="http://schemas.microsoft.com/office/drawing/2014/main" val="1779762550"/>
                    </a:ext>
                  </a:extLst>
                </a:gridCol>
                <a:gridCol w="1386011">
                  <a:extLst>
                    <a:ext uri="{9D8B030D-6E8A-4147-A177-3AD203B41FA5}">
                      <a16:colId xmlns:a16="http://schemas.microsoft.com/office/drawing/2014/main" val="1026127940"/>
                    </a:ext>
                  </a:extLst>
                </a:gridCol>
                <a:gridCol w="3412022">
                  <a:extLst>
                    <a:ext uri="{9D8B030D-6E8A-4147-A177-3AD203B41FA5}">
                      <a16:colId xmlns:a16="http://schemas.microsoft.com/office/drawing/2014/main" val="2540531888"/>
                    </a:ext>
                  </a:extLst>
                </a:gridCol>
                <a:gridCol w="2381429">
                  <a:extLst>
                    <a:ext uri="{9D8B030D-6E8A-4147-A177-3AD203B41FA5}">
                      <a16:colId xmlns:a16="http://schemas.microsoft.com/office/drawing/2014/main" val="866841920"/>
                    </a:ext>
                  </a:extLst>
                </a:gridCol>
              </a:tblGrid>
              <a:tr h="2906664">
                <a:tc>
                  <a:txBody>
                    <a:bodyPr/>
                    <a:lstStyle/>
                    <a:p>
                      <a:pPr algn="just"/>
                      <a:r>
                        <a:rPr lang="en-US" sz="2000" b="0" dirty="0">
                          <a:solidFill>
                            <a:schemeClr val="tx1"/>
                          </a:solidFill>
                          <a:latin typeface="Times New Roman" panose="02020603050405020304" pitchFamily="18" charset="0"/>
                          <a:cs typeface="Times New Roman" panose="02020603050405020304" pitchFamily="18" charset="0"/>
                        </a:rPr>
                        <a:t>2</a:t>
                      </a:r>
                    </a:p>
                  </a:txBody>
                  <a:tcPr>
                    <a:solidFill>
                      <a:schemeClr val="tx2">
                        <a:lumMod val="20000"/>
                        <a:lumOff val="80000"/>
                      </a:schemeClr>
                    </a:solidFill>
                  </a:tcPr>
                </a:tc>
                <a:tc>
                  <a:txBody>
                    <a:bodyPr/>
                    <a:lstStyle/>
                    <a:p>
                      <a:pPr algn="just"/>
                      <a:r>
                        <a:rPr lang="en-US" sz="2000" b="0" dirty="0">
                          <a:solidFill>
                            <a:schemeClr val="tx1"/>
                          </a:solidFill>
                          <a:latin typeface="Times New Roman" panose="02020603050405020304" pitchFamily="18" charset="0"/>
                          <a:cs typeface="Times New Roman" panose="02020603050405020304" pitchFamily="18" charset="0"/>
                        </a:rPr>
                        <a:t>1988</a:t>
                      </a:r>
                    </a:p>
                  </a:txBody>
                  <a:tcPr>
                    <a:solidFill>
                      <a:schemeClr val="tx2">
                        <a:lumMod val="20000"/>
                        <a:lumOff val="80000"/>
                      </a:schemeClr>
                    </a:solidFill>
                  </a:tcPr>
                </a:tc>
                <a:tc>
                  <a:txBody>
                    <a:bodyPr/>
                    <a:lstStyle/>
                    <a:p>
                      <a:pPr algn="just"/>
                      <a:r>
                        <a:rPr lang="en" sz="2000" b="0" i="0" u="none" strike="noStrike" cap="none" dirty="0">
                          <a:solidFill>
                            <a:schemeClr val="dk1"/>
                          </a:solidFill>
                          <a:latin typeface="+mn-lt"/>
                          <a:ea typeface="Calibri"/>
                          <a:cs typeface="Calibri"/>
                          <a:sym typeface="Calibri"/>
                        </a:rPr>
                        <a:t>"A Digital Hygrometer for Trace    Moisture Measurement</a:t>
                      </a:r>
                      <a:endParaRPr lang="en-US" sz="2000" b="0" dirty="0">
                        <a:solidFill>
                          <a:schemeClr val="tx1"/>
                        </a:solidFill>
                        <a:latin typeface="Times New Roman" panose="02020603050405020304" pitchFamily="18" charset="0"/>
                        <a:cs typeface="Times New Roman" panose="02020603050405020304" pitchFamily="18" charset="0"/>
                      </a:endParaRPr>
                    </a:p>
                  </a:txBody>
                  <a:tcPr>
                    <a:solidFill>
                      <a:schemeClr val="tx2">
                        <a:lumMod val="20000"/>
                        <a:lumOff val="80000"/>
                      </a:schemeClr>
                    </a:solidFill>
                  </a:tcPr>
                </a:tc>
                <a:tc>
                  <a:txBody>
                    <a:bodyPr/>
                    <a:lstStyle/>
                    <a:p>
                      <a:pPr algn="just"/>
                      <a:r>
                        <a:rPr lang="en-US" sz="2000" b="0" dirty="0">
                          <a:solidFill>
                            <a:schemeClr val="tx1"/>
                          </a:solidFill>
                          <a:latin typeface="Times New Roman" panose="02020603050405020304" pitchFamily="18" charset="0"/>
                          <a:cs typeface="Times New Roman" panose="02020603050405020304" pitchFamily="18" charset="0"/>
                        </a:rPr>
                        <a:t>A digital hygrometer using a polyimide capacitive humidity sensor is developed. The capacitance change of the sensor due to adsorption of water vapor in the atmosphere is detected by a switched-capacitor digital capacitance bridge.</a:t>
                      </a:r>
                      <a:endParaRPr lang="en-US" sz="2000" b="0" baseline="0" dirty="0">
                        <a:solidFill>
                          <a:schemeClr val="tx1"/>
                        </a:solidFill>
                        <a:latin typeface="Times New Roman" panose="02020603050405020304" pitchFamily="18" charset="0"/>
                        <a:cs typeface="Times New Roman" panose="02020603050405020304" pitchFamily="18" charset="0"/>
                      </a:endParaRPr>
                    </a:p>
                  </a:txBody>
                  <a:tcPr>
                    <a:solidFill>
                      <a:schemeClr val="tx2">
                        <a:lumMod val="20000"/>
                        <a:lumOff val="80000"/>
                      </a:schemeClr>
                    </a:solidFill>
                  </a:tcPr>
                </a:tc>
                <a:tc>
                  <a:txBody>
                    <a:bodyPr/>
                    <a:lstStyle/>
                    <a:p>
                      <a:pPr algn="just"/>
                      <a:r>
                        <a:rPr lang="en" sz="2000" b="0" i="0" u="none" strike="noStrike" cap="none" dirty="0">
                          <a:solidFill>
                            <a:schemeClr val="dk1"/>
                          </a:solidFill>
                          <a:latin typeface="+mn-lt"/>
                          <a:ea typeface="Calibri"/>
                          <a:cs typeface="Calibri"/>
                          <a:sym typeface="Calibri"/>
                        </a:rPr>
                        <a:t>T. Islam, A. U. Khan, J. Akhtar and M. Z. U. Rahman</a:t>
                      </a:r>
                      <a:endParaRPr lang="en-US" sz="2000" b="0" dirty="0">
                        <a:solidFill>
                          <a:schemeClr val="tx1"/>
                        </a:solidFill>
                        <a:latin typeface="Times New Roman" panose="02020603050405020304" pitchFamily="18" charset="0"/>
                        <a:cs typeface="Times New Roman" panose="02020603050405020304" pitchFamily="18" charset="0"/>
                      </a:endParaRPr>
                    </a:p>
                  </a:txBody>
                  <a:tcPr>
                    <a:solidFill>
                      <a:schemeClr val="tx2">
                        <a:lumMod val="20000"/>
                        <a:lumOff val="80000"/>
                      </a:schemeClr>
                    </a:solidFill>
                  </a:tcPr>
                </a:tc>
                <a:extLst>
                  <a:ext uri="{0D108BD9-81ED-4DB2-BD59-A6C34878D82A}">
                    <a16:rowId xmlns:a16="http://schemas.microsoft.com/office/drawing/2014/main" val="209647036"/>
                  </a:ext>
                </a:extLst>
              </a:tr>
              <a:tr h="3070225">
                <a:tc>
                  <a:txBody>
                    <a:bodyPr/>
                    <a:lstStyle/>
                    <a:p>
                      <a:pPr algn="just"/>
                      <a:r>
                        <a:rPr lang="en-US" sz="2000" b="0" dirty="0">
                          <a:solidFill>
                            <a:schemeClr val="tx1"/>
                          </a:solidFill>
                          <a:latin typeface="Times New Roman" panose="02020603050405020304" pitchFamily="18" charset="0"/>
                          <a:cs typeface="Times New Roman" panose="02020603050405020304" pitchFamily="18" charset="0"/>
                        </a:rPr>
                        <a:t>3</a:t>
                      </a:r>
                    </a:p>
                  </a:txBody>
                  <a:tcPr>
                    <a:solidFill>
                      <a:schemeClr val="tx2">
                        <a:lumMod val="20000"/>
                        <a:lumOff val="80000"/>
                      </a:schemeClr>
                    </a:solidFill>
                  </a:tcPr>
                </a:tc>
                <a:tc>
                  <a:txBody>
                    <a:bodyPr/>
                    <a:lstStyle/>
                    <a:p>
                      <a:pPr algn="just"/>
                      <a:r>
                        <a:rPr lang="en-US" sz="2000" b="0" dirty="0">
                          <a:solidFill>
                            <a:schemeClr val="tx1"/>
                          </a:solidFill>
                          <a:latin typeface="Times New Roman" panose="02020603050405020304" pitchFamily="18" charset="0"/>
                          <a:cs typeface="Times New Roman" panose="02020603050405020304" pitchFamily="18" charset="0"/>
                        </a:rPr>
                        <a:t>2016</a:t>
                      </a:r>
                    </a:p>
                  </a:txBody>
                  <a:tcPr>
                    <a:solidFill>
                      <a:schemeClr val="tx2">
                        <a:lumMod val="20000"/>
                        <a:lumOff val="80000"/>
                      </a:schemeClr>
                    </a:solidFill>
                  </a:tcPr>
                </a:tc>
                <a:tc>
                  <a:txBody>
                    <a:bodyPr/>
                    <a:lstStyle/>
                    <a:p>
                      <a:pPr algn="just"/>
                      <a:r>
                        <a:rPr lang="en-US" sz="2000" b="0" dirty="0">
                          <a:solidFill>
                            <a:schemeClr val="tx1"/>
                          </a:solidFill>
                          <a:latin typeface="Times New Roman" panose="02020603050405020304" pitchFamily="18" charset="0"/>
                          <a:cs typeface="Times New Roman" panose="02020603050405020304" pitchFamily="18" charset="0"/>
                        </a:rPr>
                        <a:t>Automated plant watering system</a:t>
                      </a:r>
                    </a:p>
                  </a:txBody>
                  <a:tcPr>
                    <a:solidFill>
                      <a:schemeClr val="tx2">
                        <a:lumMod val="20000"/>
                        <a:lumOff val="80000"/>
                      </a:schemeClr>
                    </a:solidFill>
                  </a:tcPr>
                </a:tc>
                <a:tc>
                  <a:txBody>
                    <a:bodyPr/>
                    <a:lstStyle/>
                    <a:p>
                      <a:pPr algn="just"/>
                      <a:r>
                        <a:rPr lang="en-US" sz="2000" b="0" dirty="0">
                          <a:solidFill>
                            <a:schemeClr val="tx1"/>
                          </a:solidFill>
                          <a:latin typeface="Times New Roman" panose="02020603050405020304" pitchFamily="18" charset="0"/>
                          <a:cs typeface="Times New Roman" panose="02020603050405020304" pitchFamily="18" charset="0"/>
                        </a:rPr>
                        <a:t>In daily operations related to farming or gardening Watering is the most important cultural practice and the most labor-intensive task. No matter whichever weather it is, either too hot and dry or too cloudy and wet, you want to be able to control the amount of water that reaches your plants</a:t>
                      </a:r>
                    </a:p>
                  </a:txBody>
                  <a:tcPr>
                    <a:solidFill>
                      <a:schemeClr val="tx2">
                        <a:lumMod val="20000"/>
                        <a:lumOff val="80000"/>
                      </a:schemeClr>
                    </a:solidFill>
                  </a:tcPr>
                </a:tc>
                <a:tc>
                  <a:txBody>
                    <a:bodyPr/>
                    <a:lstStyle/>
                    <a:p>
                      <a:pPr algn="just"/>
                      <a:r>
                        <a:rPr lang="it-IT" sz="2000" b="0" i="0" u="none" strike="noStrike" cap="none" dirty="0">
                          <a:solidFill>
                            <a:schemeClr val="dk1"/>
                          </a:solidFill>
                          <a:latin typeface="+mn-lt"/>
                          <a:ea typeface="Calibri"/>
                          <a:cs typeface="Calibri"/>
                          <a:sym typeface="Calibri"/>
                        </a:rPr>
                        <a:t>Divani, D., Patil, P., &amp; Punjabi, S. K</a:t>
                      </a:r>
                      <a:endParaRPr lang="en-US" sz="2000" b="0" dirty="0">
                        <a:solidFill>
                          <a:schemeClr val="tx1"/>
                        </a:solidFill>
                        <a:latin typeface="Times New Roman" panose="02020603050405020304" pitchFamily="18" charset="0"/>
                        <a:cs typeface="Times New Roman" panose="02020603050405020304" pitchFamily="18" charset="0"/>
                      </a:endParaRPr>
                    </a:p>
                  </a:txBody>
                  <a:tcPr>
                    <a:solidFill>
                      <a:schemeClr val="tx2">
                        <a:lumMod val="20000"/>
                        <a:lumOff val="80000"/>
                      </a:schemeClr>
                    </a:solidFill>
                  </a:tcPr>
                </a:tc>
                <a:extLst>
                  <a:ext uri="{0D108BD9-81ED-4DB2-BD59-A6C34878D82A}">
                    <a16:rowId xmlns:a16="http://schemas.microsoft.com/office/drawing/2014/main" val="2430066530"/>
                  </a:ext>
                </a:extLst>
              </a:tr>
            </a:tbl>
          </a:graphicData>
        </a:graphic>
      </p:graphicFrame>
      <p:sp>
        <p:nvSpPr>
          <p:cNvPr id="10" name="Slide Number Placeholder 4">
            <a:extLst>
              <a:ext uri="{FF2B5EF4-FFF2-40B4-BE49-F238E27FC236}">
                <a16:creationId xmlns:a16="http://schemas.microsoft.com/office/drawing/2014/main" id="{7EA4DED8-E020-719D-20E5-431BBB177284}"/>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800" dirty="0">
                <a:solidFill>
                  <a:schemeClr val="tx1"/>
                </a:solidFill>
                <a:latin typeface="Times New Roman" pitchFamily="18" charset="0"/>
                <a:cs typeface="Times New Roman" pitchFamily="18" charset="0"/>
              </a:rPr>
              <a:t>3</a:t>
            </a:r>
            <a:endParaRPr lang="en-IN" sz="18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2763763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Content Placeholder 6">
            <a:extLst>
              <a:ext uri="{FF2B5EF4-FFF2-40B4-BE49-F238E27FC236}">
                <a16:creationId xmlns:a16="http://schemas.microsoft.com/office/drawing/2014/main" id="{39C28EE7-398B-5452-6931-2617D5F4116C}"/>
              </a:ext>
            </a:extLst>
          </p:cNvPr>
          <p:cNvGraphicFramePr>
            <a:graphicFrameLocks/>
          </p:cNvGraphicFramePr>
          <p:nvPr>
            <p:extLst>
              <p:ext uri="{D42A27DB-BD31-4B8C-83A1-F6EECF244321}">
                <p14:modId xmlns:p14="http://schemas.microsoft.com/office/powerpoint/2010/main" val="3690976313"/>
              </p:ext>
            </p:extLst>
          </p:nvPr>
        </p:nvGraphicFramePr>
        <p:xfrm>
          <a:off x="315912" y="441960"/>
          <a:ext cx="8512175" cy="5122356"/>
        </p:xfrm>
        <a:graphic>
          <a:graphicData uri="http://schemas.openxmlformats.org/drawingml/2006/table">
            <a:tbl>
              <a:tblPr firstRow="1" bandRow="1">
                <a:tableStyleId>{5C22544A-7EE6-4342-B048-85BDC9FD1C3A}</a:tableStyleId>
              </a:tblPr>
              <a:tblGrid>
                <a:gridCol w="367655">
                  <a:extLst>
                    <a:ext uri="{9D8B030D-6E8A-4147-A177-3AD203B41FA5}">
                      <a16:colId xmlns:a16="http://schemas.microsoft.com/office/drawing/2014/main" val="2382288932"/>
                    </a:ext>
                  </a:extLst>
                </a:gridCol>
                <a:gridCol w="792088">
                  <a:extLst>
                    <a:ext uri="{9D8B030D-6E8A-4147-A177-3AD203B41FA5}">
                      <a16:colId xmlns:a16="http://schemas.microsoft.com/office/drawing/2014/main" val="3617944173"/>
                    </a:ext>
                  </a:extLst>
                </a:gridCol>
                <a:gridCol w="1656184">
                  <a:extLst>
                    <a:ext uri="{9D8B030D-6E8A-4147-A177-3AD203B41FA5}">
                      <a16:colId xmlns:a16="http://schemas.microsoft.com/office/drawing/2014/main" val="3282350495"/>
                    </a:ext>
                  </a:extLst>
                </a:gridCol>
                <a:gridCol w="3240360">
                  <a:extLst>
                    <a:ext uri="{9D8B030D-6E8A-4147-A177-3AD203B41FA5}">
                      <a16:colId xmlns:a16="http://schemas.microsoft.com/office/drawing/2014/main" val="2656865004"/>
                    </a:ext>
                  </a:extLst>
                </a:gridCol>
                <a:gridCol w="2455888">
                  <a:extLst>
                    <a:ext uri="{9D8B030D-6E8A-4147-A177-3AD203B41FA5}">
                      <a16:colId xmlns:a16="http://schemas.microsoft.com/office/drawing/2014/main" val="3004409045"/>
                    </a:ext>
                  </a:extLst>
                </a:gridCol>
              </a:tblGrid>
              <a:tr h="2897316">
                <a:tc>
                  <a:txBody>
                    <a:bodyPr/>
                    <a:lstStyle/>
                    <a:p>
                      <a:pPr algn="just"/>
                      <a:r>
                        <a:rPr lang="en-US" sz="2000" b="0" dirty="0">
                          <a:solidFill>
                            <a:schemeClr val="tx1"/>
                          </a:solidFill>
                          <a:latin typeface="Times New Roman" panose="02020603050405020304" pitchFamily="18" charset="0"/>
                          <a:cs typeface="Times New Roman" panose="02020603050405020304" pitchFamily="18" charset="0"/>
                        </a:rPr>
                        <a:t>4</a:t>
                      </a:r>
                    </a:p>
                  </a:txBody>
                  <a:tcPr>
                    <a:solidFill>
                      <a:schemeClr val="tx2">
                        <a:lumMod val="20000"/>
                        <a:lumOff val="80000"/>
                      </a:schemeClr>
                    </a:solidFill>
                  </a:tcPr>
                </a:tc>
                <a:tc>
                  <a:txBody>
                    <a:bodyPr/>
                    <a:lstStyle/>
                    <a:p>
                      <a:pPr algn="just"/>
                      <a:r>
                        <a:rPr lang="en-US" sz="2000" b="0" dirty="0">
                          <a:solidFill>
                            <a:schemeClr val="tx1"/>
                          </a:solidFill>
                          <a:latin typeface="Times New Roman" panose="02020603050405020304" pitchFamily="18" charset="0"/>
                          <a:cs typeface="Times New Roman" panose="02020603050405020304" pitchFamily="18" charset="0"/>
                        </a:rPr>
                        <a:t>2018</a:t>
                      </a:r>
                    </a:p>
                  </a:txBody>
                  <a:tcPr>
                    <a:solidFill>
                      <a:schemeClr val="tx2">
                        <a:lumMod val="20000"/>
                        <a:lumOff val="80000"/>
                      </a:schemeClr>
                    </a:solidFill>
                  </a:tcPr>
                </a:tc>
                <a:tc>
                  <a:txBody>
                    <a:bodyPr/>
                    <a:lstStyle/>
                    <a:p>
                      <a:pPr algn="just"/>
                      <a:r>
                        <a:rPr lang="en-US" sz="2000" b="0" dirty="0">
                          <a:solidFill>
                            <a:schemeClr val="tx1"/>
                          </a:solidFill>
                          <a:latin typeface="Times New Roman" panose="02020603050405020304" pitchFamily="18" charset="0"/>
                          <a:cs typeface="Times New Roman" panose="02020603050405020304" pitchFamily="18" charset="0"/>
                        </a:rPr>
                        <a:t>Microcontroller based automated room light and fan controller.</a:t>
                      </a:r>
                    </a:p>
                  </a:txBody>
                  <a:tcPr>
                    <a:solidFill>
                      <a:schemeClr val="tx2">
                        <a:lumMod val="20000"/>
                        <a:lumOff val="80000"/>
                      </a:schemeClr>
                    </a:solidFill>
                  </a:tcPr>
                </a:tc>
                <a:tc>
                  <a:txBody>
                    <a:bodyPr/>
                    <a:lstStyle/>
                    <a:p>
                      <a:pPr algn="just"/>
                      <a:r>
                        <a:rPr lang="en-US" sz="2000" b="0" dirty="0">
                          <a:solidFill>
                            <a:schemeClr val="tx1"/>
                          </a:solidFill>
                          <a:latin typeface="Times New Roman" panose="02020603050405020304" pitchFamily="18" charset="0"/>
                          <a:cs typeface="Times New Roman" panose="02020603050405020304" pitchFamily="18" charset="0"/>
                        </a:rPr>
                        <a:t>Devices such as fan and lights will get turned on as soon as somebody enters the room and if the room is empty then it will get turned off. Above that, the speed of fan will be controlled according to the temperature of the surroundings.</a:t>
                      </a:r>
                    </a:p>
                  </a:txBody>
                  <a:tcPr>
                    <a:solidFill>
                      <a:schemeClr val="tx2">
                        <a:lumMod val="20000"/>
                        <a:lumOff val="80000"/>
                      </a:schemeClr>
                    </a:solidFill>
                  </a:tcPr>
                </a:tc>
                <a:tc>
                  <a:txBody>
                    <a:bodyPr/>
                    <a:lstStyle/>
                    <a:p>
                      <a:pPr algn="just"/>
                      <a:r>
                        <a:rPr lang="en-US" sz="2000" b="0" dirty="0">
                          <a:solidFill>
                            <a:schemeClr val="tx1"/>
                          </a:solidFill>
                          <a:latin typeface="Times New Roman" panose="02020603050405020304" pitchFamily="18" charset="0"/>
                          <a:cs typeface="Times New Roman" panose="02020603050405020304" pitchFamily="18" charset="0"/>
                        </a:rPr>
                        <a:t> </a:t>
                      </a:r>
                      <a:r>
                        <a:rPr lang="en-US" sz="2000" b="0" dirty="0" err="1">
                          <a:solidFill>
                            <a:schemeClr val="tx1"/>
                          </a:solidFill>
                          <a:latin typeface="Times New Roman" panose="02020603050405020304" pitchFamily="18" charset="0"/>
                          <a:cs typeface="Times New Roman" panose="02020603050405020304" pitchFamily="18" charset="0"/>
                        </a:rPr>
                        <a:t>Ratnadewi</a:t>
                      </a:r>
                      <a:r>
                        <a:rPr lang="en-US" sz="2000" b="0" dirty="0">
                          <a:solidFill>
                            <a:schemeClr val="tx1"/>
                          </a:solidFill>
                          <a:latin typeface="Times New Roman" panose="02020603050405020304" pitchFamily="18" charset="0"/>
                          <a:cs typeface="Times New Roman" panose="02020603050405020304" pitchFamily="18" charset="0"/>
                        </a:rPr>
                        <a:t>, R., </a:t>
                      </a:r>
                      <a:r>
                        <a:rPr lang="en-US" sz="2000" b="0" dirty="0" err="1">
                          <a:solidFill>
                            <a:schemeClr val="tx1"/>
                          </a:solidFill>
                          <a:latin typeface="Times New Roman" panose="02020603050405020304" pitchFamily="18" charset="0"/>
                          <a:cs typeface="Times New Roman" panose="02020603050405020304" pitchFamily="18" charset="0"/>
                        </a:rPr>
                        <a:t>Nurdiyanto</a:t>
                      </a:r>
                      <a:r>
                        <a:rPr lang="en-US" sz="2000" b="0" dirty="0">
                          <a:solidFill>
                            <a:schemeClr val="tx1"/>
                          </a:solidFill>
                          <a:latin typeface="Times New Roman" panose="02020603050405020304" pitchFamily="18" charset="0"/>
                          <a:cs typeface="Times New Roman" panose="02020603050405020304" pitchFamily="18" charset="0"/>
                        </a:rPr>
                        <a:t>, H., </a:t>
                      </a:r>
                      <a:r>
                        <a:rPr lang="en-US" sz="2000" b="0" dirty="0" err="1">
                          <a:solidFill>
                            <a:schemeClr val="tx1"/>
                          </a:solidFill>
                          <a:latin typeface="Times New Roman" panose="02020603050405020304" pitchFamily="18" charset="0"/>
                          <a:cs typeface="Times New Roman" panose="02020603050405020304" pitchFamily="18" charset="0"/>
                        </a:rPr>
                        <a:t>Najmurrokhman</a:t>
                      </a:r>
                      <a:r>
                        <a:rPr lang="en-US" sz="2000" b="0" dirty="0">
                          <a:solidFill>
                            <a:schemeClr val="tx1"/>
                          </a:solidFill>
                          <a:latin typeface="Times New Roman" panose="02020603050405020304" pitchFamily="18" charset="0"/>
                          <a:cs typeface="Times New Roman" panose="02020603050405020304" pitchFamily="18" charset="0"/>
                        </a:rPr>
                        <a:t>, A., Prabowo, C., </a:t>
                      </a:r>
                      <a:r>
                        <a:rPr lang="en-US" sz="2000" b="0" dirty="0" err="1">
                          <a:solidFill>
                            <a:schemeClr val="tx1"/>
                          </a:solidFill>
                          <a:latin typeface="Times New Roman" panose="02020603050405020304" pitchFamily="18" charset="0"/>
                          <a:cs typeface="Times New Roman" panose="02020603050405020304" pitchFamily="18" charset="0"/>
                        </a:rPr>
                        <a:t>Idmayanti</a:t>
                      </a:r>
                      <a:r>
                        <a:rPr lang="en-US" sz="2000" b="0" dirty="0">
                          <a:solidFill>
                            <a:schemeClr val="tx1"/>
                          </a:solidFill>
                          <a:latin typeface="Times New Roman" panose="02020603050405020304" pitchFamily="18" charset="0"/>
                          <a:cs typeface="Times New Roman" panose="02020603050405020304" pitchFamily="18" charset="0"/>
                        </a:rPr>
                        <a:t>, R., </a:t>
                      </a:r>
                      <a:r>
                        <a:rPr lang="en-US" sz="2000" b="0" dirty="0" err="1">
                          <a:solidFill>
                            <a:schemeClr val="tx1"/>
                          </a:solidFill>
                          <a:latin typeface="Times New Roman" panose="02020603050405020304" pitchFamily="18" charset="0"/>
                          <a:cs typeface="Times New Roman" panose="02020603050405020304" pitchFamily="18" charset="0"/>
                        </a:rPr>
                        <a:t>Eteruddin</a:t>
                      </a:r>
                      <a:r>
                        <a:rPr lang="en-US" sz="2000" b="0" dirty="0">
                          <a:solidFill>
                            <a:schemeClr val="tx1"/>
                          </a:solidFill>
                          <a:latin typeface="Times New Roman" panose="02020603050405020304" pitchFamily="18" charset="0"/>
                          <a:cs typeface="Times New Roman" panose="02020603050405020304" pitchFamily="18" charset="0"/>
                        </a:rPr>
                        <a:t>, H.,   Rahim, R.</a:t>
                      </a:r>
                    </a:p>
                  </a:txBody>
                  <a:tcPr>
                    <a:solidFill>
                      <a:schemeClr val="tx2">
                        <a:lumMod val="20000"/>
                        <a:lumOff val="80000"/>
                      </a:schemeClr>
                    </a:solidFill>
                  </a:tcPr>
                </a:tc>
                <a:extLst>
                  <a:ext uri="{0D108BD9-81ED-4DB2-BD59-A6C34878D82A}">
                    <a16:rowId xmlns:a16="http://schemas.microsoft.com/office/drawing/2014/main" val="1042487674"/>
                  </a:ext>
                </a:extLst>
              </a:tr>
              <a:tr h="2216084">
                <a:tc>
                  <a:txBody>
                    <a:bodyPr/>
                    <a:lstStyle/>
                    <a:p>
                      <a:pPr algn="just"/>
                      <a:r>
                        <a:rPr lang="en-US" sz="2000" b="0" dirty="0">
                          <a:solidFill>
                            <a:schemeClr val="tx1"/>
                          </a:solidFill>
                          <a:latin typeface="Times New Roman" panose="02020603050405020304" pitchFamily="18" charset="0"/>
                          <a:cs typeface="Times New Roman" panose="02020603050405020304" pitchFamily="18" charset="0"/>
                        </a:rPr>
                        <a:t>5</a:t>
                      </a:r>
                    </a:p>
                  </a:txBody>
                  <a:tcPr>
                    <a:solidFill>
                      <a:schemeClr val="tx2">
                        <a:lumMod val="20000"/>
                        <a:lumOff val="80000"/>
                      </a:schemeClr>
                    </a:solidFill>
                  </a:tcPr>
                </a:tc>
                <a:tc>
                  <a:txBody>
                    <a:bodyPr/>
                    <a:lstStyle/>
                    <a:p>
                      <a:pPr algn="just"/>
                      <a:r>
                        <a:rPr lang="en-US" sz="2000" b="0" dirty="0">
                          <a:solidFill>
                            <a:schemeClr val="tx1"/>
                          </a:solidFill>
                          <a:latin typeface="Times New Roman" panose="02020603050405020304" pitchFamily="18" charset="0"/>
                          <a:cs typeface="Times New Roman" panose="02020603050405020304" pitchFamily="18" charset="0"/>
                        </a:rPr>
                        <a:t>2018</a:t>
                      </a:r>
                    </a:p>
                  </a:txBody>
                  <a:tcPr>
                    <a:solidFill>
                      <a:schemeClr val="tx2">
                        <a:lumMod val="20000"/>
                        <a:lumOff val="80000"/>
                      </a:schemeClr>
                    </a:solidFill>
                  </a:tcPr>
                </a:tc>
                <a:tc>
                  <a:txBody>
                    <a:bodyPr/>
                    <a:lstStyle/>
                    <a:p>
                      <a:pPr algn="just"/>
                      <a:r>
                        <a:rPr lang="en-US" sz="2000" b="0" dirty="0">
                          <a:solidFill>
                            <a:schemeClr val="tx1"/>
                          </a:solidFill>
                          <a:latin typeface="Times New Roman" panose="02020603050405020304" pitchFamily="18" charset="0"/>
                          <a:cs typeface="Times New Roman" panose="02020603050405020304" pitchFamily="18" charset="0"/>
                        </a:rPr>
                        <a:t> Control and notification automatic water pump with </a:t>
                      </a:r>
                      <a:r>
                        <a:rPr lang="en-US" sz="2000" b="0" dirty="0" err="1">
                          <a:solidFill>
                            <a:schemeClr val="tx1"/>
                          </a:solidFill>
                          <a:latin typeface="Times New Roman" panose="02020603050405020304" pitchFamily="18" charset="0"/>
                          <a:cs typeface="Times New Roman" panose="02020603050405020304" pitchFamily="18" charset="0"/>
                        </a:rPr>
                        <a:t>arduino</a:t>
                      </a:r>
                      <a:r>
                        <a:rPr lang="en-US" sz="2000" b="0" dirty="0">
                          <a:solidFill>
                            <a:schemeClr val="tx1"/>
                          </a:solidFill>
                          <a:latin typeface="Times New Roman" panose="02020603050405020304" pitchFamily="18" charset="0"/>
                          <a:cs typeface="Times New Roman" panose="02020603050405020304" pitchFamily="18" charset="0"/>
                        </a:rPr>
                        <a:t> and SMS gateway</a:t>
                      </a:r>
                    </a:p>
                  </a:txBody>
                  <a:tcPr>
                    <a:solidFill>
                      <a:schemeClr val="tx2">
                        <a:lumMod val="20000"/>
                        <a:lumOff val="80000"/>
                      </a:schemeClr>
                    </a:solidFill>
                  </a:tcPr>
                </a:tc>
                <a:tc>
                  <a:txBody>
                    <a:bodyPr/>
                    <a:lstStyle/>
                    <a:p>
                      <a:pPr algn="just"/>
                      <a:r>
                        <a:rPr lang="en-US" sz="2000" b="0" dirty="0">
                          <a:solidFill>
                            <a:schemeClr val="tx1"/>
                          </a:solidFill>
                          <a:latin typeface="Times New Roman" panose="02020603050405020304" pitchFamily="18" charset="0"/>
                          <a:cs typeface="Times New Roman" panose="02020603050405020304" pitchFamily="18" charset="0"/>
                        </a:rPr>
                        <a:t>This paper aims to facilitate the owner to control water pump machine from the vacuum, and the condition of the water is it full or not in house or apartment.</a:t>
                      </a:r>
                    </a:p>
                  </a:txBody>
                  <a:tcPr>
                    <a:solidFill>
                      <a:schemeClr val="tx2">
                        <a:lumMod val="20000"/>
                        <a:lumOff val="80000"/>
                      </a:schemeClr>
                    </a:solidFill>
                  </a:tcPr>
                </a:tc>
                <a:tc>
                  <a:txBody>
                    <a:bodyPr/>
                    <a:lstStyle/>
                    <a:p>
                      <a:pPr algn="just"/>
                      <a:r>
                        <a:rPr lang="en-US" sz="2000" b="0" dirty="0">
                          <a:solidFill>
                            <a:schemeClr val="tx1"/>
                          </a:solidFill>
                          <a:latin typeface="Times New Roman" panose="02020603050405020304" pitchFamily="18" charset="0"/>
                          <a:cs typeface="Times New Roman" panose="02020603050405020304" pitchFamily="18" charset="0"/>
                        </a:rPr>
                        <a:t>Shashidhar R, Surendra R Hegde, Chinmaya K, </a:t>
                      </a:r>
                      <a:r>
                        <a:rPr lang="en-US" sz="2000" b="0" dirty="0" err="1">
                          <a:solidFill>
                            <a:schemeClr val="tx1"/>
                          </a:solidFill>
                          <a:latin typeface="Times New Roman" panose="02020603050405020304" pitchFamily="18" charset="0"/>
                          <a:cs typeface="Times New Roman" panose="02020603050405020304" pitchFamily="18" charset="0"/>
                        </a:rPr>
                        <a:t>Ankith</a:t>
                      </a:r>
                      <a:r>
                        <a:rPr lang="en-US" sz="2000" b="0" dirty="0">
                          <a:solidFill>
                            <a:schemeClr val="tx1"/>
                          </a:solidFill>
                          <a:latin typeface="Times New Roman" panose="02020603050405020304" pitchFamily="18" charset="0"/>
                          <a:cs typeface="Times New Roman" panose="02020603050405020304" pitchFamily="18" charset="0"/>
                        </a:rPr>
                        <a:t> </a:t>
                      </a:r>
                      <a:r>
                        <a:rPr lang="en-US" sz="2000" b="0" dirty="0" err="1">
                          <a:solidFill>
                            <a:schemeClr val="tx1"/>
                          </a:solidFill>
                          <a:latin typeface="Times New Roman" panose="02020603050405020304" pitchFamily="18" charset="0"/>
                          <a:cs typeface="Times New Roman" panose="02020603050405020304" pitchFamily="18" charset="0"/>
                        </a:rPr>
                        <a:t>Priyesh</a:t>
                      </a:r>
                      <a:r>
                        <a:rPr lang="en-US" sz="2000" b="0" dirty="0">
                          <a:solidFill>
                            <a:schemeClr val="tx1"/>
                          </a:solidFill>
                          <a:latin typeface="Times New Roman" panose="02020603050405020304" pitchFamily="18" charset="0"/>
                          <a:cs typeface="Times New Roman" panose="02020603050405020304" pitchFamily="18" charset="0"/>
                        </a:rPr>
                        <a:t>, A S Manjunath, B N Aruna Kumari</a:t>
                      </a:r>
                    </a:p>
                  </a:txBody>
                  <a:tcPr>
                    <a:solidFill>
                      <a:schemeClr val="tx2">
                        <a:lumMod val="20000"/>
                        <a:lumOff val="80000"/>
                      </a:schemeClr>
                    </a:solidFill>
                  </a:tcPr>
                </a:tc>
                <a:extLst>
                  <a:ext uri="{0D108BD9-81ED-4DB2-BD59-A6C34878D82A}">
                    <a16:rowId xmlns:a16="http://schemas.microsoft.com/office/drawing/2014/main" val="259507199"/>
                  </a:ext>
                </a:extLst>
              </a:tr>
            </a:tbl>
          </a:graphicData>
        </a:graphic>
      </p:graphicFrame>
      <p:sp>
        <p:nvSpPr>
          <p:cNvPr id="12" name="Slide Number Placeholder 4">
            <a:extLst>
              <a:ext uri="{FF2B5EF4-FFF2-40B4-BE49-F238E27FC236}">
                <a16:creationId xmlns:a16="http://schemas.microsoft.com/office/drawing/2014/main" id="{0C30E4E4-CAB9-E084-2464-3F80DA189EAA}"/>
              </a:ext>
            </a:extLst>
          </p:cNvPr>
          <p:cNvSpPr>
            <a:spLocks noGrp="1"/>
          </p:cNvSpPr>
          <p:nvPr>
            <p:ph type="sldNum" sz="quarter" idx="12"/>
          </p:nvPr>
        </p:nvSpPr>
        <p:spPr>
          <a:xfrm>
            <a:off x="6553200" y="6356350"/>
            <a:ext cx="2133600" cy="365125"/>
          </a:xfrm>
        </p:spPr>
        <p:txBody>
          <a:bodyPr/>
          <a:lstStyle/>
          <a:p>
            <a:r>
              <a:rPr lang="en-IN" sz="1800" dirty="0">
                <a:solidFill>
                  <a:schemeClr val="tx1"/>
                </a:solidFill>
                <a:latin typeface="Times New Roman" pitchFamily="18" charset="0"/>
                <a:cs typeface="Times New Roman" pitchFamily="18" charset="0"/>
              </a:rPr>
              <a:t>4</a:t>
            </a:r>
          </a:p>
        </p:txBody>
      </p:sp>
    </p:spTree>
    <p:extLst>
      <p:ext uri="{BB962C8B-B14F-4D97-AF65-F5344CB8AC3E}">
        <p14:creationId xmlns:p14="http://schemas.microsoft.com/office/powerpoint/2010/main" val="20412234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6">
            <a:extLst>
              <a:ext uri="{FF2B5EF4-FFF2-40B4-BE49-F238E27FC236}">
                <a16:creationId xmlns:a16="http://schemas.microsoft.com/office/drawing/2014/main" id="{389CDB4E-D5F9-3E1B-2640-0679F96EB723}"/>
              </a:ext>
            </a:extLst>
          </p:cNvPr>
          <p:cNvGraphicFramePr>
            <a:graphicFrameLocks noGrp="1"/>
          </p:cNvGraphicFramePr>
          <p:nvPr>
            <p:ph idx="1"/>
            <p:extLst>
              <p:ext uri="{D42A27DB-BD31-4B8C-83A1-F6EECF244321}">
                <p14:modId xmlns:p14="http://schemas.microsoft.com/office/powerpoint/2010/main" val="3170579019"/>
              </p:ext>
            </p:extLst>
          </p:nvPr>
        </p:nvGraphicFramePr>
        <p:xfrm>
          <a:off x="428736" y="332656"/>
          <a:ext cx="8334375" cy="5974080"/>
        </p:xfrm>
        <a:graphic>
          <a:graphicData uri="http://schemas.openxmlformats.org/drawingml/2006/table">
            <a:tbl>
              <a:tblPr firstRow="1" bandRow="1">
                <a:tableStyleId>{5C22544A-7EE6-4342-B048-85BDC9FD1C3A}</a:tableStyleId>
              </a:tblPr>
              <a:tblGrid>
                <a:gridCol w="350764">
                  <a:extLst>
                    <a:ext uri="{9D8B030D-6E8A-4147-A177-3AD203B41FA5}">
                      <a16:colId xmlns:a16="http://schemas.microsoft.com/office/drawing/2014/main" val="3319737696"/>
                    </a:ext>
                  </a:extLst>
                </a:gridCol>
                <a:gridCol w="720080">
                  <a:extLst>
                    <a:ext uri="{9D8B030D-6E8A-4147-A177-3AD203B41FA5}">
                      <a16:colId xmlns:a16="http://schemas.microsoft.com/office/drawing/2014/main" val="2044948640"/>
                    </a:ext>
                  </a:extLst>
                </a:gridCol>
                <a:gridCol w="1872208">
                  <a:extLst>
                    <a:ext uri="{9D8B030D-6E8A-4147-A177-3AD203B41FA5}">
                      <a16:colId xmlns:a16="http://schemas.microsoft.com/office/drawing/2014/main" val="1085528055"/>
                    </a:ext>
                  </a:extLst>
                </a:gridCol>
                <a:gridCol w="3312368">
                  <a:extLst>
                    <a:ext uri="{9D8B030D-6E8A-4147-A177-3AD203B41FA5}">
                      <a16:colId xmlns:a16="http://schemas.microsoft.com/office/drawing/2014/main" val="2702279496"/>
                    </a:ext>
                  </a:extLst>
                </a:gridCol>
                <a:gridCol w="2078955">
                  <a:extLst>
                    <a:ext uri="{9D8B030D-6E8A-4147-A177-3AD203B41FA5}">
                      <a16:colId xmlns:a16="http://schemas.microsoft.com/office/drawing/2014/main" val="1247393509"/>
                    </a:ext>
                  </a:extLst>
                </a:gridCol>
              </a:tblGrid>
              <a:tr h="2408962">
                <a:tc>
                  <a:txBody>
                    <a:bodyPr/>
                    <a:lstStyle/>
                    <a:p>
                      <a:pPr algn="just"/>
                      <a:r>
                        <a:rPr lang="en-US" sz="2000" b="0" dirty="0">
                          <a:solidFill>
                            <a:schemeClr val="tx1"/>
                          </a:solidFill>
                          <a:latin typeface="Times New Roman" panose="02020603050405020304" pitchFamily="18" charset="0"/>
                          <a:cs typeface="Times New Roman" panose="02020603050405020304" pitchFamily="18" charset="0"/>
                        </a:rPr>
                        <a:t>6</a:t>
                      </a:r>
                    </a:p>
                  </a:txBody>
                  <a:tcPr>
                    <a:solidFill>
                      <a:schemeClr val="tx2">
                        <a:lumMod val="20000"/>
                        <a:lumOff val="80000"/>
                      </a:schemeClr>
                    </a:solidFill>
                  </a:tcPr>
                </a:tc>
                <a:tc>
                  <a:txBody>
                    <a:bodyPr/>
                    <a:lstStyle/>
                    <a:p>
                      <a:pPr algn="just"/>
                      <a:r>
                        <a:rPr lang="en-US" sz="2000" b="0" dirty="0">
                          <a:solidFill>
                            <a:schemeClr val="tx1"/>
                          </a:solidFill>
                          <a:latin typeface="Times New Roman" panose="02020603050405020304" pitchFamily="18" charset="0"/>
                          <a:cs typeface="Times New Roman" panose="02020603050405020304" pitchFamily="18" charset="0"/>
                        </a:rPr>
                        <a:t>2023</a:t>
                      </a:r>
                    </a:p>
                  </a:txBody>
                  <a:tcPr>
                    <a:solidFill>
                      <a:schemeClr val="tx2">
                        <a:lumMod val="20000"/>
                        <a:lumOff val="80000"/>
                      </a:schemeClr>
                    </a:solidFill>
                  </a:tcPr>
                </a:tc>
                <a:tc>
                  <a:txBody>
                    <a:bodyPr/>
                    <a:lstStyle/>
                    <a:p>
                      <a:pPr algn="just"/>
                      <a:r>
                        <a:rPr lang="en-US" sz="2000" b="0" dirty="0">
                          <a:solidFill>
                            <a:schemeClr val="tx1"/>
                          </a:solidFill>
                          <a:latin typeface="Times New Roman" panose="02020603050405020304" pitchFamily="18" charset="0"/>
                          <a:cs typeface="Times New Roman" panose="02020603050405020304" pitchFamily="18" charset="0"/>
                        </a:rPr>
                        <a:t>Fabrication and investigation of agricultural monitoring system with IoT &amp; AI.</a:t>
                      </a:r>
                    </a:p>
                  </a:txBody>
                  <a:tcPr>
                    <a:solidFill>
                      <a:schemeClr val="tx2">
                        <a:lumMod val="20000"/>
                        <a:lumOff val="80000"/>
                      </a:schemeClr>
                    </a:solidFill>
                  </a:tcPr>
                </a:tc>
                <a:tc>
                  <a:txBody>
                    <a:bodyPr/>
                    <a:lstStyle/>
                    <a:p>
                      <a:pPr algn="just"/>
                      <a:r>
                        <a:rPr lang="en-US" sz="2000" b="0" dirty="0">
                          <a:solidFill>
                            <a:schemeClr val="tx1"/>
                          </a:solidFill>
                          <a:latin typeface="Times New Roman" panose="02020603050405020304" pitchFamily="18" charset="0"/>
                          <a:cs typeface="Times New Roman" panose="02020603050405020304" pitchFamily="18" charset="0"/>
                        </a:rPr>
                        <a:t>The goal of the research is to deploy a network of sensors throughout agricultural fields to gather real-time information on a variety of environmental factors including temperature, humidity, soil moisture and nutrient levels.</a:t>
                      </a:r>
                    </a:p>
                  </a:txBody>
                  <a:tcPr>
                    <a:solidFill>
                      <a:schemeClr val="tx2">
                        <a:lumMod val="20000"/>
                        <a:lumOff val="80000"/>
                      </a:schemeClr>
                    </a:solidFill>
                  </a:tcPr>
                </a:tc>
                <a:tc>
                  <a:txBody>
                    <a:bodyPr/>
                    <a:lstStyle/>
                    <a:p>
                      <a:pPr algn="just"/>
                      <a:r>
                        <a:rPr lang="en-US" sz="2000" b="0" dirty="0">
                          <a:solidFill>
                            <a:schemeClr val="tx1"/>
                          </a:solidFill>
                          <a:latin typeface="Times New Roman" panose="02020603050405020304" pitchFamily="18" charset="0"/>
                          <a:cs typeface="Times New Roman" panose="02020603050405020304" pitchFamily="18" charset="0"/>
                        </a:rPr>
                        <a:t>.Indira, P., Arafat, I. S., Karthikeyan, R., </a:t>
                      </a:r>
                      <a:r>
                        <a:rPr lang="en-US" sz="2000" b="0" dirty="0" err="1">
                          <a:solidFill>
                            <a:schemeClr val="tx1"/>
                          </a:solidFill>
                          <a:latin typeface="Times New Roman" panose="02020603050405020304" pitchFamily="18" charset="0"/>
                          <a:cs typeface="Times New Roman" panose="02020603050405020304" pitchFamily="18" charset="0"/>
                        </a:rPr>
                        <a:t>Selvarajan</a:t>
                      </a:r>
                      <a:r>
                        <a:rPr lang="en-US" sz="2000" b="0" dirty="0">
                          <a:solidFill>
                            <a:schemeClr val="tx1"/>
                          </a:solidFill>
                          <a:latin typeface="Times New Roman" panose="02020603050405020304" pitchFamily="18" charset="0"/>
                          <a:cs typeface="Times New Roman" panose="02020603050405020304" pitchFamily="18" charset="0"/>
                        </a:rPr>
                        <a:t>, S., &amp; Balachandran, P. K</a:t>
                      </a:r>
                    </a:p>
                  </a:txBody>
                  <a:tcPr>
                    <a:solidFill>
                      <a:schemeClr val="tx2">
                        <a:lumMod val="20000"/>
                        <a:lumOff val="80000"/>
                      </a:schemeClr>
                    </a:solidFill>
                  </a:tcPr>
                </a:tc>
                <a:extLst>
                  <a:ext uri="{0D108BD9-81ED-4DB2-BD59-A6C34878D82A}">
                    <a16:rowId xmlns:a16="http://schemas.microsoft.com/office/drawing/2014/main" val="239215598"/>
                  </a:ext>
                </a:extLst>
              </a:tr>
              <a:tr h="3279670">
                <a:tc>
                  <a:txBody>
                    <a:bodyPr/>
                    <a:lstStyle/>
                    <a:p>
                      <a:pPr algn="just"/>
                      <a:r>
                        <a:rPr lang="en-US" sz="2000" b="0" dirty="0">
                          <a:solidFill>
                            <a:schemeClr val="tx1"/>
                          </a:solidFill>
                          <a:latin typeface="Times New Roman" panose="02020603050405020304" pitchFamily="18" charset="0"/>
                          <a:cs typeface="Times New Roman" panose="02020603050405020304" pitchFamily="18" charset="0"/>
                        </a:rPr>
                        <a:t>7</a:t>
                      </a:r>
                    </a:p>
                  </a:txBody>
                  <a:tcPr>
                    <a:solidFill>
                      <a:schemeClr val="tx2">
                        <a:lumMod val="20000"/>
                        <a:lumOff val="80000"/>
                      </a:schemeClr>
                    </a:solidFill>
                  </a:tcPr>
                </a:tc>
                <a:tc>
                  <a:txBody>
                    <a:bodyPr/>
                    <a:lstStyle/>
                    <a:p>
                      <a:pPr algn="just"/>
                      <a:r>
                        <a:rPr lang="en-US" sz="2000" b="0" dirty="0">
                          <a:solidFill>
                            <a:schemeClr val="tx1"/>
                          </a:solidFill>
                          <a:latin typeface="Times New Roman" panose="02020603050405020304" pitchFamily="18" charset="0"/>
                          <a:cs typeface="Times New Roman" panose="02020603050405020304" pitchFamily="18" charset="0"/>
                        </a:rPr>
                        <a:t>2023</a:t>
                      </a:r>
                    </a:p>
                  </a:txBody>
                  <a:tcPr>
                    <a:solidFill>
                      <a:schemeClr val="tx2">
                        <a:lumMod val="20000"/>
                        <a:lumOff val="80000"/>
                      </a:schemeClr>
                    </a:solidFill>
                  </a:tcPr>
                </a:tc>
                <a:tc>
                  <a:txBody>
                    <a:bodyPr/>
                    <a:lstStyle/>
                    <a:p>
                      <a:pPr algn="just"/>
                      <a:r>
                        <a:rPr lang="en-US" sz="2000" b="0" dirty="0">
                          <a:solidFill>
                            <a:schemeClr val="tx1"/>
                          </a:solidFill>
                          <a:latin typeface="Times New Roman" panose="02020603050405020304" pitchFamily="18" charset="0"/>
                          <a:cs typeface="Times New Roman" panose="02020603050405020304" pitchFamily="18" charset="0"/>
                        </a:rPr>
                        <a:t>Smart agriculture – automatic monitoring of soil moisture and irrigation control for farming land</a:t>
                      </a:r>
                    </a:p>
                  </a:txBody>
                  <a:tcPr>
                    <a:solidFill>
                      <a:schemeClr val="tx2">
                        <a:lumMod val="20000"/>
                        <a:lumOff val="80000"/>
                      </a:schemeClr>
                    </a:solidFill>
                  </a:tcPr>
                </a:tc>
                <a:tc>
                  <a:txBody>
                    <a:bodyPr/>
                    <a:lstStyle/>
                    <a:p>
                      <a:pPr algn="just"/>
                      <a:r>
                        <a:rPr lang="en-US" sz="2000" b="0" dirty="0">
                          <a:solidFill>
                            <a:schemeClr val="tx1"/>
                          </a:solidFill>
                          <a:latin typeface="Times New Roman" panose="02020603050405020304" pitchFamily="18" charset="0"/>
                          <a:cs typeface="Times New Roman" panose="02020603050405020304" pitchFamily="18" charset="0"/>
                        </a:rPr>
                        <a:t>This paper is based on Raspberry Pi</a:t>
                      </a:r>
                      <a:r>
                        <a:rPr lang="en-US" sz="2000" b="0" baseline="0" dirty="0">
                          <a:solidFill>
                            <a:schemeClr val="tx1"/>
                          </a:solidFill>
                          <a:latin typeface="Times New Roman" panose="02020603050405020304" pitchFamily="18" charset="0"/>
                          <a:cs typeface="Times New Roman" panose="02020603050405020304" pitchFamily="18" charset="0"/>
                        </a:rPr>
                        <a:t> with a camera module and is programmed in python with the </a:t>
                      </a:r>
                      <a:r>
                        <a:rPr lang="en-US" sz="2000" b="0" baseline="0" dirty="0" err="1">
                          <a:solidFill>
                            <a:schemeClr val="tx1"/>
                          </a:solidFill>
                          <a:latin typeface="Times New Roman" panose="02020603050405020304" pitchFamily="18" charset="0"/>
                          <a:cs typeface="Times New Roman" panose="02020603050405020304" pitchFamily="18" charset="0"/>
                        </a:rPr>
                        <a:t>OpenCV</a:t>
                      </a:r>
                      <a:r>
                        <a:rPr lang="en-US" sz="2000" b="0" baseline="0" dirty="0">
                          <a:solidFill>
                            <a:schemeClr val="tx1"/>
                          </a:solidFill>
                          <a:latin typeface="Times New Roman" panose="02020603050405020304" pitchFamily="18" charset="0"/>
                          <a:cs typeface="Times New Roman" panose="02020603050405020304" pitchFamily="18" charset="0"/>
                        </a:rPr>
                        <a:t> library as a backend. First preprocessing of image taking place. Finally, the sign is identified using Tensor flow algorithm and outcome result as a voice using TTS algorithm.</a:t>
                      </a:r>
                      <a:endParaRPr lang="en-US" sz="2000" b="0" dirty="0">
                        <a:solidFill>
                          <a:schemeClr val="tx1"/>
                        </a:solidFill>
                        <a:latin typeface="Times New Roman" panose="02020603050405020304" pitchFamily="18" charset="0"/>
                        <a:cs typeface="Times New Roman" panose="02020603050405020304" pitchFamily="18" charset="0"/>
                      </a:endParaRPr>
                    </a:p>
                  </a:txBody>
                  <a:tcPr>
                    <a:solidFill>
                      <a:schemeClr val="tx2">
                        <a:lumMod val="20000"/>
                        <a:lumOff val="80000"/>
                      </a:schemeClr>
                    </a:solidFill>
                  </a:tcPr>
                </a:tc>
                <a:tc>
                  <a:txBody>
                    <a:bodyPr/>
                    <a:lstStyle/>
                    <a:p>
                      <a:pPr algn="just"/>
                      <a:r>
                        <a:rPr lang="fi-FI" sz="2000" b="0" dirty="0">
                          <a:solidFill>
                            <a:schemeClr val="tx1"/>
                          </a:solidFill>
                          <a:latin typeface="Times New Roman" panose="02020603050405020304" pitchFamily="18" charset="0"/>
                          <a:cs typeface="Times New Roman" panose="02020603050405020304" pitchFamily="18" charset="0"/>
                        </a:rPr>
                        <a:t> Nagalingam, R., Chintamaneni, V., Paramasivan, K., &amp; Ponnusamy, M.</a:t>
                      </a:r>
                      <a:endParaRPr lang="en-US" sz="2000" b="0" dirty="0">
                        <a:solidFill>
                          <a:schemeClr val="tx1"/>
                        </a:solidFill>
                        <a:latin typeface="Times New Roman" panose="02020603050405020304" pitchFamily="18" charset="0"/>
                        <a:cs typeface="Times New Roman" panose="02020603050405020304" pitchFamily="18" charset="0"/>
                      </a:endParaRPr>
                    </a:p>
                  </a:txBody>
                  <a:tcPr>
                    <a:solidFill>
                      <a:schemeClr val="tx2">
                        <a:lumMod val="20000"/>
                        <a:lumOff val="80000"/>
                      </a:schemeClr>
                    </a:solidFill>
                  </a:tcPr>
                </a:tc>
                <a:extLst>
                  <a:ext uri="{0D108BD9-81ED-4DB2-BD59-A6C34878D82A}">
                    <a16:rowId xmlns:a16="http://schemas.microsoft.com/office/drawing/2014/main" val="3107194418"/>
                  </a:ext>
                </a:extLst>
              </a:tr>
            </a:tbl>
          </a:graphicData>
        </a:graphic>
      </p:graphicFrame>
      <p:sp>
        <p:nvSpPr>
          <p:cNvPr id="10" name="Slide Number Placeholder 4">
            <a:extLst>
              <a:ext uri="{FF2B5EF4-FFF2-40B4-BE49-F238E27FC236}">
                <a16:creationId xmlns:a16="http://schemas.microsoft.com/office/drawing/2014/main" id="{694B7860-8614-036A-2EF1-2AB2F6067EAE}"/>
              </a:ext>
            </a:extLst>
          </p:cNvPr>
          <p:cNvSpPr>
            <a:spLocks noGrp="1"/>
          </p:cNvSpPr>
          <p:nvPr>
            <p:ph type="sldNum" sz="quarter" idx="12"/>
          </p:nvPr>
        </p:nvSpPr>
        <p:spPr>
          <a:xfrm>
            <a:off x="6553200" y="6356350"/>
            <a:ext cx="2133600" cy="365125"/>
          </a:xfrm>
        </p:spPr>
        <p:txBody>
          <a:bodyPr/>
          <a:lstStyle/>
          <a:p>
            <a:r>
              <a:rPr lang="en-US" sz="1800" dirty="0">
                <a:solidFill>
                  <a:schemeClr val="tx1"/>
                </a:solidFill>
                <a:latin typeface="Times New Roman" pitchFamily="18" charset="0"/>
                <a:cs typeface="Times New Roman" pitchFamily="18" charset="0"/>
              </a:rPr>
              <a:t>5</a:t>
            </a:r>
            <a:endParaRPr lang="en-IN" sz="18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4196083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04665"/>
            <a:ext cx="7772400" cy="1152127"/>
          </a:xfrm>
        </p:spPr>
        <p:txBody>
          <a:bodyPr/>
          <a:lstStyle/>
          <a:p>
            <a:r>
              <a:rPr lang="en-US" b="1" dirty="0">
                <a:latin typeface="Times New Roman" pitchFamily="18" charset="0"/>
                <a:cs typeface="Times New Roman" pitchFamily="18" charset="0"/>
              </a:rPr>
              <a:t>Problem Statement</a:t>
            </a:r>
            <a:endParaRPr lang="en-IN" b="1"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r>
              <a:rPr lang="en-US" sz="1800" dirty="0">
                <a:solidFill>
                  <a:schemeClr val="tx1"/>
                </a:solidFill>
                <a:latin typeface="Times New Roman" pitchFamily="18" charset="0"/>
                <a:cs typeface="Times New Roman" pitchFamily="18" charset="0"/>
              </a:rPr>
              <a:t>6</a:t>
            </a:r>
            <a:endParaRPr lang="en-IN" sz="1800" dirty="0">
              <a:solidFill>
                <a:schemeClr val="tx1"/>
              </a:solidFill>
              <a:latin typeface="Times New Roman" pitchFamily="18" charset="0"/>
              <a:cs typeface="Times New Roman" pitchFamily="18" charset="0"/>
            </a:endParaRPr>
          </a:p>
        </p:txBody>
      </p:sp>
      <p:sp>
        <p:nvSpPr>
          <p:cNvPr id="7" name="TextBox 6">
            <a:extLst>
              <a:ext uri="{FF2B5EF4-FFF2-40B4-BE49-F238E27FC236}">
                <a16:creationId xmlns:a16="http://schemas.microsoft.com/office/drawing/2014/main" id="{13FB1F79-E881-D6C7-0063-CCF4F94B9C96}"/>
              </a:ext>
            </a:extLst>
          </p:cNvPr>
          <p:cNvSpPr txBox="1"/>
          <p:nvPr/>
        </p:nvSpPr>
        <p:spPr>
          <a:xfrm>
            <a:off x="323528" y="1556790"/>
            <a:ext cx="8496944" cy="3970318"/>
          </a:xfrm>
          <a:prstGeom prst="rect">
            <a:avLst/>
          </a:prstGeom>
          <a:noFill/>
        </p:spPr>
        <p:txBody>
          <a:bodyPr wrap="square">
            <a:spAutoFit/>
          </a:bodyPr>
          <a:lstStyle/>
          <a:p>
            <a:pPr algn="just"/>
            <a:r>
              <a:rPr lang="en-IN" dirty="0">
                <a:latin typeface="Times New Roman" panose="02020603050405020304" pitchFamily="18" charset="0"/>
                <a:cs typeface="Times New Roman" panose="02020603050405020304" pitchFamily="18" charset="0"/>
              </a:rPr>
              <a:t>In agriculture, efficient resource management and environmental control are paramount for maximizing crop yield and ensuring sustainable practices. Traditional methods often fall short in several key areas, leading to significant challenges:</a:t>
            </a:r>
          </a:p>
          <a:p>
            <a:pPr marL="285750" indent="-285750" algn="just">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     Inefficient Water Usage:</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Traditional irrigation methods often result in water wastage due to over-irrigation or under-irrigation.</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Manual monitoring of soil moisture levels is </a:t>
            </a:r>
            <a:r>
              <a:rPr lang="en-IN" dirty="0" err="1">
                <a:latin typeface="Times New Roman" panose="02020603050405020304" pitchFamily="18" charset="0"/>
                <a:cs typeface="Times New Roman" panose="02020603050405020304" pitchFamily="18" charset="0"/>
              </a:rPr>
              <a:t>labor-intensive</a:t>
            </a:r>
            <a:r>
              <a:rPr lang="en-IN" dirty="0">
                <a:latin typeface="Times New Roman" panose="02020603050405020304" pitchFamily="18" charset="0"/>
                <a:cs typeface="Times New Roman" panose="02020603050405020304" pitchFamily="18" charset="0"/>
              </a:rPr>
              <a:t> and prone to inaccuracies.</a:t>
            </a:r>
          </a:p>
          <a:p>
            <a:pPr marL="285750" indent="-285750" algn="just">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     Inconsistent Temperature Regulation:</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Maintaining optimal temperature conditions manually is difficult, especially in changing environmental conditions.</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Lack of automated solutions for temperature control can negatively impact crop health and productivity.</a:t>
            </a:r>
          </a:p>
        </p:txBody>
      </p:sp>
    </p:spTree>
    <p:extLst>
      <p:ext uri="{BB962C8B-B14F-4D97-AF65-F5344CB8AC3E}">
        <p14:creationId xmlns:p14="http://schemas.microsoft.com/office/powerpoint/2010/main" val="15124267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04665"/>
            <a:ext cx="7772400" cy="1152127"/>
          </a:xfrm>
        </p:spPr>
        <p:txBody>
          <a:bodyPr>
            <a:noAutofit/>
          </a:bodyPr>
          <a:lstStyle/>
          <a:p>
            <a:r>
              <a:rPr lang="en-US" sz="3600" b="1" dirty="0">
                <a:latin typeface="Times New Roman" pitchFamily="18" charset="0"/>
                <a:cs typeface="Times New Roman" pitchFamily="18" charset="0"/>
              </a:rPr>
              <a:t>Block Diagram</a:t>
            </a:r>
            <a:endParaRPr lang="en-IN" sz="3600" b="1"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r>
              <a:rPr lang="en-US" sz="1800" dirty="0">
                <a:solidFill>
                  <a:prstClr val="black"/>
                </a:solidFill>
                <a:latin typeface="Times New Roman" pitchFamily="18" charset="0"/>
                <a:cs typeface="Times New Roman" pitchFamily="18" charset="0"/>
              </a:rPr>
              <a:t>7</a:t>
            </a:r>
            <a:endParaRPr lang="en-IN" sz="1800" dirty="0">
              <a:solidFill>
                <a:prstClr val="black"/>
              </a:solidFill>
              <a:latin typeface="Times New Roman" pitchFamily="18" charset="0"/>
              <a:cs typeface="Times New Roman" pitchFamily="18" charset="0"/>
            </a:endParaRPr>
          </a:p>
        </p:txBody>
      </p:sp>
      <p:sp>
        <p:nvSpPr>
          <p:cNvPr id="6" name="Rectangle 5">
            <a:extLst>
              <a:ext uri="{FF2B5EF4-FFF2-40B4-BE49-F238E27FC236}">
                <a16:creationId xmlns:a16="http://schemas.microsoft.com/office/drawing/2014/main" id="{1620E394-E4E8-B11D-8330-69485FECA92C}"/>
              </a:ext>
            </a:extLst>
          </p:cNvPr>
          <p:cNvSpPr/>
          <p:nvPr/>
        </p:nvSpPr>
        <p:spPr>
          <a:xfrm>
            <a:off x="2149513" y="1916832"/>
            <a:ext cx="4248472" cy="424847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7" name="Rectangle 6">
            <a:extLst>
              <a:ext uri="{FF2B5EF4-FFF2-40B4-BE49-F238E27FC236}">
                <a16:creationId xmlns:a16="http://schemas.microsoft.com/office/drawing/2014/main" id="{1EF18A12-B7FE-0D9F-2A9A-1573AEDE8D3B}"/>
              </a:ext>
            </a:extLst>
          </p:cNvPr>
          <p:cNvSpPr/>
          <p:nvPr/>
        </p:nvSpPr>
        <p:spPr>
          <a:xfrm>
            <a:off x="7020272" y="2060848"/>
            <a:ext cx="1584176" cy="79208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Soil Moisture level Sensor</a:t>
            </a:r>
          </a:p>
        </p:txBody>
      </p:sp>
      <p:sp>
        <p:nvSpPr>
          <p:cNvPr id="8" name="Rectangle 7">
            <a:extLst>
              <a:ext uri="{FF2B5EF4-FFF2-40B4-BE49-F238E27FC236}">
                <a16:creationId xmlns:a16="http://schemas.microsoft.com/office/drawing/2014/main" id="{1080EBE7-2B83-56AF-7F58-9EA0DC40C7DA}"/>
              </a:ext>
            </a:extLst>
          </p:cNvPr>
          <p:cNvSpPr/>
          <p:nvPr/>
        </p:nvSpPr>
        <p:spPr>
          <a:xfrm>
            <a:off x="7003082" y="5007052"/>
            <a:ext cx="1584176" cy="79208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Water Pump</a:t>
            </a:r>
          </a:p>
          <a:p>
            <a:pPr algn="ctr"/>
            <a:r>
              <a:rPr lang="en-IN" dirty="0">
                <a:solidFill>
                  <a:schemeClr val="tx1"/>
                </a:solidFill>
              </a:rPr>
              <a:t>(Drip System)</a:t>
            </a:r>
          </a:p>
        </p:txBody>
      </p:sp>
      <p:sp>
        <p:nvSpPr>
          <p:cNvPr id="9" name="Rectangle 8">
            <a:extLst>
              <a:ext uri="{FF2B5EF4-FFF2-40B4-BE49-F238E27FC236}">
                <a16:creationId xmlns:a16="http://schemas.microsoft.com/office/drawing/2014/main" id="{0674DC41-B47A-1498-7772-4457F64E33C9}"/>
              </a:ext>
            </a:extLst>
          </p:cNvPr>
          <p:cNvSpPr/>
          <p:nvPr/>
        </p:nvSpPr>
        <p:spPr>
          <a:xfrm>
            <a:off x="323528" y="1880828"/>
            <a:ext cx="1432520" cy="115212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Temperature and Humidity Sensor</a:t>
            </a:r>
          </a:p>
        </p:txBody>
      </p:sp>
      <p:sp>
        <p:nvSpPr>
          <p:cNvPr id="10" name="Rectangle 9">
            <a:extLst>
              <a:ext uri="{FF2B5EF4-FFF2-40B4-BE49-F238E27FC236}">
                <a16:creationId xmlns:a16="http://schemas.microsoft.com/office/drawing/2014/main" id="{9FFAC0FD-6331-235C-5001-8082C4658AD7}"/>
              </a:ext>
            </a:extLst>
          </p:cNvPr>
          <p:cNvSpPr/>
          <p:nvPr/>
        </p:nvSpPr>
        <p:spPr>
          <a:xfrm>
            <a:off x="171872" y="5007052"/>
            <a:ext cx="1584176" cy="112715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Window operator motor(Stepper motor)</a:t>
            </a:r>
          </a:p>
        </p:txBody>
      </p:sp>
      <p:cxnSp>
        <p:nvCxnSpPr>
          <p:cNvPr id="12" name="Straight Arrow Connector 11">
            <a:extLst>
              <a:ext uri="{FF2B5EF4-FFF2-40B4-BE49-F238E27FC236}">
                <a16:creationId xmlns:a16="http://schemas.microsoft.com/office/drawing/2014/main" id="{DF6F05D2-0C50-F3CB-1A1A-3032BB53497F}"/>
              </a:ext>
            </a:extLst>
          </p:cNvPr>
          <p:cNvCxnSpPr>
            <a:cxnSpLocks/>
          </p:cNvCxnSpPr>
          <p:nvPr/>
        </p:nvCxnSpPr>
        <p:spPr>
          <a:xfrm>
            <a:off x="6397985" y="3909421"/>
            <a:ext cx="59831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BD09D3E0-8C00-3D9C-4118-B500AAF42145}"/>
              </a:ext>
            </a:extLst>
          </p:cNvPr>
          <p:cNvCxnSpPr>
            <a:cxnSpLocks/>
            <a:endCxn id="8" idx="1"/>
          </p:cNvCxnSpPr>
          <p:nvPr/>
        </p:nvCxnSpPr>
        <p:spPr>
          <a:xfrm>
            <a:off x="6372200" y="5403096"/>
            <a:ext cx="63088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3CE0FFB3-B1C2-58B2-6255-CBD5131C9D30}"/>
              </a:ext>
            </a:extLst>
          </p:cNvPr>
          <p:cNvCxnSpPr>
            <a:cxnSpLocks/>
            <a:stCxn id="9" idx="3"/>
          </p:cNvCxnSpPr>
          <p:nvPr/>
        </p:nvCxnSpPr>
        <p:spPr>
          <a:xfrm flipV="1">
            <a:off x="1756048" y="2456891"/>
            <a:ext cx="367680"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967A5542-581F-7BD7-E757-33F32634F710}"/>
              </a:ext>
            </a:extLst>
          </p:cNvPr>
          <p:cNvCxnSpPr>
            <a:cxnSpLocks/>
            <a:endCxn id="10" idx="3"/>
          </p:cNvCxnSpPr>
          <p:nvPr/>
        </p:nvCxnSpPr>
        <p:spPr>
          <a:xfrm flipH="1">
            <a:off x="1756048" y="5570628"/>
            <a:ext cx="38487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9" name="TextBox 28">
            <a:extLst>
              <a:ext uri="{FF2B5EF4-FFF2-40B4-BE49-F238E27FC236}">
                <a16:creationId xmlns:a16="http://schemas.microsoft.com/office/drawing/2014/main" id="{99E1C9DF-F4A5-6A2C-13C4-3FE29DE9AC33}"/>
              </a:ext>
            </a:extLst>
          </p:cNvPr>
          <p:cNvSpPr txBox="1"/>
          <p:nvPr/>
        </p:nvSpPr>
        <p:spPr>
          <a:xfrm>
            <a:off x="3107621" y="3517848"/>
            <a:ext cx="2179251" cy="523220"/>
          </a:xfrm>
          <a:prstGeom prst="rect">
            <a:avLst/>
          </a:prstGeom>
          <a:noFill/>
        </p:spPr>
        <p:txBody>
          <a:bodyPr wrap="none" rtlCol="0">
            <a:spAutoFit/>
          </a:bodyPr>
          <a:lstStyle/>
          <a:p>
            <a:r>
              <a:rPr lang="en-IN" sz="2800" b="1" dirty="0"/>
              <a:t>Arduino UNO</a:t>
            </a:r>
          </a:p>
        </p:txBody>
      </p:sp>
      <p:cxnSp>
        <p:nvCxnSpPr>
          <p:cNvPr id="14" name="Straight Arrow Connector 13">
            <a:extLst>
              <a:ext uri="{FF2B5EF4-FFF2-40B4-BE49-F238E27FC236}">
                <a16:creationId xmlns:a16="http://schemas.microsoft.com/office/drawing/2014/main" id="{EBB940B6-A7ED-620E-B1CF-182E8197DC5C}"/>
              </a:ext>
            </a:extLst>
          </p:cNvPr>
          <p:cNvCxnSpPr>
            <a:cxnSpLocks/>
          </p:cNvCxnSpPr>
          <p:nvPr/>
        </p:nvCxnSpPr>
        <p:spPr>
          <a:xfrm flipH="1" flipV="1">
            <a:off x="6380795" y="2456891"/>
            <a:ext cx="639477"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 name="Rectangle 18">
            <a:extLst>
              <a:ext uri="{FF2B5EF4-FFF2-40B4-BE49-F238E27FC236}">
                <a16:creationId xmlns:a16="http://schemas.microsoft.com/office/drawing/2014/main" id="{FDA75D3E-D0C9-D08A-E058-2FA0619103B7}"/>
              </a:ext>
            </a:extLst>
          </p:cNvPr>
          <p:cNvSpPr/>
          <p:nvPr/>
        </p:nvSpPr>
        <p:spPr>
          <a:xfrm>
            <a:off x="6996304" y="3566532"/>
            <a:ext cx="1896176" cy="78007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solidFill>
                  <a:schemeClr val="tx1"/>
                </a:solidFill>
              </a:rPr>
              <a:t>16*2 LED Display</a:t>
            </a:r>
          </a:p>
        </p:txBody>
      </p:sp>
    </p:spTree>
    <p:extLst>
      <p:ext uri="{BB962C8B-B14F-4D97-AF65-F5344CB8AC3E}">
        <p14:creationId xmlns:p14="http://schemas.microsoft.com/office/powerpoint/2010/main" val="28628894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04665"/>
            <a:ext cx="7772400" cy="1152127"/>
          </a:xfrm>
        </p:spPr>
        <p:txBody>
          <a:bodyPr>
            <a:noAutofit/>
          </a:bodyPr>
          <a:lstStyle/>
          <a:p>
            <a:r>
              <a:rPr lang="en-US" sz="3600" b="1" dirty="0">
                <a:latin typeface="Times New Roman" pitchFamily="18" charset="0"/>
                <a:cs typeface="Times New Roman" pitchFamily="18" charset="0"/>
              </a:rPr>
              <a:t>Interfacing</a:t>
            </a:r>
            <a:endParaRPr lang="en-IN" sz="3600" b="1"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r>
              <a:rPr lang="en-US" sz="1800" dirty="0">
                <a:solidFill>
                  <a:prstClr val="black"/>
                </a:solidFill>
                <a:latin typeface="Times New Roman" pitchFamily="18" charset="0"/>
                <a:cs typeface="Times New Roman" pitchFamily="18" charset="0"/>
              </a:rPr>
              <a:t>8</a:t>
            </a:r>
            <a:endParaRPr lang="en-IN" sz="1800" dirty="0">
              <a:solidFill>
                <a:prstClr val="black"/>
              </a:solidFill>
              <a:latin typeface="Times New Roman" pitchFamily="18" charset="0"/>
              <a:cs typeface="Times New Roman" pitchFamily="18" charset="0"/>
            </a:endParaRPr>
          </a:p>
        </p:txBody>
      </p:sp>
      <p:pic>
        <p:nvPicPr>
          <p:cNvPr id="9" name="Picture 8">
            <a:extLst>
              <a:ext uri="{FF2B5EF4-FFF2-40B4-BE49-F238E27FC236}">
                <a16:creationId xmlns:a16="http://schemas.microsoft.com/office/drawing/2014/main" id="{56D8ED6D-49C6-23F4-662A-FE44A4D93F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9552" y="1412776"/>
            <a:ext cx="8303143" cy="4174695"/>
          </a:xfrm>
          <a:prstGeom prst="rect">
            <a:avLst/>
          </a:prstGeom>
        </p:spPr>
      </p:pic>
    </p:spTree>
    <p:extLst>
      <p:ext uri="{BB962C8B-B14F-4D97-AF65-F5344CB8AC3E}">
        <p14:creationId xmlns:p14="http://schemas.microsoft.com/office/powerpoint/2010/main" val="38646343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r>
              <a:rPr lang="en-US" sz="1800" dirty="0">
                <a:solidFill>
                  <a:prstClr val="black"/>
                </a:solidFill>
                <a:latin typeface="Times New Roman" pitchFamily="18" charset="0"/>
                <a:cs typeface="Times New Roman" pitchFamily="18" charset="0"/>
              </a:rPr>
              <a:t>9</a:t>
            </a:r>
            <a:endParaRPr lang="en-IN" sz="1800" dirty="0">
              <a:solidFill>
                <a:prstClr val="black"/>
              </a:solidFill>
              <a:latin typeface="Times New Roman" pitchFamily="18" charset="0"/>
              <a:cs typeface="Times New Roman" pitchFamily="18" charset="0"/>
            </a:endParaRPr>
          </a:p>
        </p:txBody>
      </p:sp>
      <p:sp>
        <p:nvSpPr>
          <p:cNvPr id="2" name="Title 1"/>
          <p:cNvSpPr>
            <a:spLocks noGrp="1"/>
          </p:cNvSpPr>
          <p:nvPr>
            <p:ph type="ctrTitle" idx="4294967295"/>
          </p:nvPr>
        </p:nvSpPr>
        <p:spPr>
          <a:xfrm>
            <a:off x="0" y="136525"/>
            <a:ext cx="7772400" cy="1470025"/>
          </a:xfrm>
        </p:spPr>
        <p:txBody>
          <a:bodyPr>
            <a:noAutofit/>
          </a:bodyPr>
          <a:lstStyle/>
          <a:p>
            <a:r>
              <a:rPr lang="en-US" sz="3600" b="1" dirty="0">
                <a:latin typeface="Times New Roman" pitchFamily="18" charset="0"/>
                <a:cs typeface="Times New Roman" pitchFamily="18" charset="0"/>
              </a:rPr>
              <a:t>Hardware and Software</a:t>
            </a:r>
            <a:endParaRPr lang="en-IN" sz="3600" b="1" dirty="0">
              <a:latin typeface="Times New Roman" pitchFamily="18" charset="0"/>
              <a:cs typeface="Times New Roman" pitchFamily="18" charset="0"/>
            </a:endParaRPr>
          </a:p>
        </p:txBody>
      </p:sp>
      <p:sp>
        <p:nvSpPr>
          <p:cNvPr id="6" name="Subtitle 5">
            <a:extLst>
              <a:ext uri="{FF2B5EF4-FFF2-40B4-BE49-F238E27FC236}">
                <a16:creationId xmlns:a16="http://schemas.microsoft.com/office/drawing/2014/main" id="{5E1AA86E-AE89-7A86-D9BB-45707BD283DF}"/>
              </a:ext>
            </a:extLst>
          </p:cNvPr>
          <p:cNvSpPr>
            <a:spLocks noGrp="1"/>
          </p:cNvSpPr>
          <p:nvPr>
            <p:ph type="subTitle" idx="4294967295"/>
          </p:nvPr>
        </p:nvSpPr>
        <p:spPr>
          <a:xfrm>
            <a:off x="539552" y="1484784"/>
            <a:ext cx="6696744" cy="2664296"/>
          </a:xfrm>
        </p:spPr>
        <p:txBody>
          <a:bodyPr>
            <a:noAutofit/>
          </a:bodyPr>
          <a:lstStyle/>
          <a:p>
            <a:pPr marL="0" indent="0">
              <a:buNone/>
            </a:pPr>
            <a:r>
              <a:rPr lang="en-IN" sz="2000" b="1" dirty="0">
                <a:solidFill>
                  <a:schemeClr val="tx1"/>
                </a:solidFill>
                <a:latin typeface="Times New Roman" panose="02020603050405020304" pitchFamily="18" charset="0"/>
                <a:cs typeface="Times New Roman" panose="02020603050405020304" pitchFamily="18" charset="0"/>
              </a:rPr>
              <a:t>Hardware requirements</a:t>
            </a:r>
          </a:p>
          <a:p>
            <a:r>
              <a:rPr lang="en-IN" sz="2000" dirty="0">
                <a:solidFill>
                  <a:schemeClr val="tx1"/>
                </a:solidFill>
                <a:latin typeface="Times New Roman" panose="02020603050405020304" pitchFamily="18" charset="0"/>
                <a:cs typeface="Times New Roman" panose="02020603050405020304" pitchFamily="18" charset="0"/>
              </a:rPr>
              <a:t>Arduino UNO</a:t>
            </a:r>
          </a:p>
          <a:p>
            <a:r>
              <a:rPr lang="en-IN" sz="2000" dirty="0">
                <a:solidFill>
                  <a:schemeClr val="tx1"/>
                </a:solidFill>
                <a:latin typeface="Times New Roman" panose="02020603050405020304" pitchFamily="18" charset="0"/>
                <a:cs typeface="Times New Roman" panose="02020603050405020304" pitchFamily="18" charset="0"/>
              </a:rPr>
              <a:t>Soil Moisture sensor</a:t>
            </a:r>
          </a:p>
          <a:p>
            <a:r>
              <a:rPr lang="en-IN" sz="2000" dirty="0">
                <a:latin typeface="Times New Roman" panose="02020603050405020304" pitchFamily="18" charset="0"/>
                <a:cs typeface="Times New Roman" panose="02020603050405020304" pitchFamily="18" charset="0"/>
              </a:rPr>
              <a:t>Water pump</a:t>
            </a:r>
          </a:p>
          <a:p>
            <a:r>
              <a:rPr lang="en-IN" sz="2000" dirty="0">
                <a:solidFill>
                  <a:schemeClr val="tx1"/>
                </a:solidFill>
                <a:latin typeface="Times New Roman" panose="02020603050405020304" pitchFamily="18" charset="0"/>
                <a:cs typeface="Times New Roman" panose="02020603050405020304" pitchFamily="18" charset="0"/>
              </a:rPr>
              <a:t>DHT11 sensor</a:t>
            </a:r>
          </a:p>
          <a:p>
            <a:r>
              <a:rPr lang="en-IN" sz="2000" dirty="0">
                <a:latin typeface="Times New Roman" panose="02020603050405020304" pitchFamily="18" charset="0"/>
                <a:cs typeface="Times New Roman" panose="02020603050405020304" pitchFamily="18" charset="0"/>
              </a:rPr>
              <a:t>Stepper motor and driver</a:t>
            </a:r>
          </a:p>
          <a:p>
            <a:r>
              <a:rPr lang="en-IN" sz="2000" dirty="0">
                <a:solidFill>
                  <a:schemeClr val="tx1"/>
                </a:solidFill>
                <a:latin typeface="Times New Roman" panose="02020603050405020304" pitchFamily="18" charset="0"/>
                <a:cs typeface="Times New Roman" panose="02020603050405020304" pitchFamily="18" charset="0"/>
              </a:rPr>
              <a:t>Bread Board</a:t>
            </a:r>
          </a:p>
          <a:p>
            <a:r>
              <a:rPr lang="en-IN" sz="2000" dirty="0">
                <a:latin typeface="Times New Roman" panose="02020603050405020304" pitchFamily="18" charset="0"/>
                <a:cs typeface="Times New Roman" panose="02020603050405020304" pitchFamily="18" charset="0"/>
              </a:rPr>
              <a:t>Jumper Wires</a:t>
            </a:r>
            <a:endParaRPr lang="en-IN" sz="2000" dirty="0">
              <a:solidFill>
                <a:schemeClr val="tx1"/>
              </a:solidFill>
              <a:latin typeface="Times New Roman" panose="02020603050405020304" pitchFamily="18" charset="0"/>
              <a:cs typeface="Times New Roman" panose="02020603050405020304" pitchFamily="18" charset="0"/>
            </a:endParaRPr>
          </a:p>
          <a:p>
            <a:endParaRPr lang="en-IN" sz="2000" b="1" dirty="0">
              <a:solidFill>
                <a:schemeClr val="tx1"/>
              </a:solidFill>
              <a:latin typeface="Times New Roman" panose="02020603050405020304" pitchFamily="18" charset="0"/>
              <a:cs typeface="Times New Roman" panose="02020603050405020304" pitchFamily="18" charset="0"/>
            </a:endParaRPr>
          </a:p>
        </p:txBody>
      </p:sp>
      <p:sp>
        <p:nvSpPr>
          <p:cNvPr id="7" name="Subtitle 5">
            <a:extLst>
              <a:ext uri="{FF2B5EF4-FFF2-40B4-BE49-F238E27FC236}">
                <a16:creationId xmlns:a16="http://schemas.microsoft.com/office/drawing/2014/main" id="{7F5FD10D-9D94-10FC-FF92-C19B59A0B14A}"/>
              </a:ext>
            </a:extLst>
          </p:cNvPr>
          <p:cNvSpPr txBox="1">
            <a:spLocks/>
          </p:cNvSpPr>
          <p:nvPr/>
        </p:nvSpPr>
        <p:spPr>
          <a:xfrm>
            <a:off x="539552" y="4411815"/>
            <a:ext cx="6400800" cy="17526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IN" sz="2000" b="1" dirty="0">
                <a:latin typeface="Times New Roman" panose="02020603050405020304" pitchFamily="18" charset="0"/>
                <a:cs typeface="Times New Roman" panose="02020603050405020304" pitchFamily="18" charset="0"/>
              </a:rPr>
              <a:t>Software requirements</a:t>
            </a:r>
          </a:p>
          <a:p>
            <a:r>
              <a:rPr lang="en-IN" sz="2000" dirty="0">
                <a:latin typeface="Times New Roman" panose="02020603050405020304" pitchFamily="18" charset="0"/>
                <a:cs typeface="Times New Roman" panose="02020603050405020304" pitchFamily="18" charset="0"/>
              </a:rPr>
              <a:t>Arduino IDE</a:t>
            </a:r>
          </a:p>
          <a:p>
            <a:r>
              <a:rPr lang="en-IN" sz="2000" dirty="0">
                <a:latin typeface="Times New Roman" panose="02020603050405020304" pitchFamily="18" charset="0"/>
                <a:cs typeface="Times New Roman" panose="02020603050405020304" pitchFamily="18" charset="0"/>
              </a:rPr>
              <a:t>Tinker-CAD simulator </a:t>
            </a:r>
          </a:p>
          <a:p>
            <a:endParaRPr lang="en-IN" sz="20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7CAF9CC-31D6-06BA-A297-EC1546F8A3BB}"/>
              </a:ext>
            </a:extLst>
          </p:cNvPr>
          <p:cNvSpPr>
            <a:spLocks noGrp="1"/>
          </p:cNvSpPr>
          <p:nvPr>
            <p:ph type="sldNum" sz="quarter" idx="12"/>
          </p:nvPr>
        </p:nvSpPr>
        <p:spPr/>
        <p:txBody>
          <a:bodyPr/>
          <a:lstStyle/>
          <a:p>
            <a:r>
              <a:rPr lang="en-IN" sz="1800" dirty="0">
                <a:solidFill>
                  <a:schemeClr val="tx1"/>
                </a:solidFill>
                <a:latin typeface="Times New Roman" panose="02020603050405020304" pitchFamily="18" charset="0"/>
                <a:cs typeface="Times New Roman" panose="02020603050405020304" pitchFamily="18" charset="0"/>
              </a:rPr>
              <a:t>12</a:t>
            </a:r>
          </a:p>
        </p:txBody>
      </p:sp>
      <p:sp>
        <p:nvSpPr>
          <p:cNvPr id="6" name="TextBox 5">
            <a:extLst>
              <a:ext uri="{FF2B5EF4-FFF2-40B4-BE49-F238E27FC236}">
                <a16:creationId xmlns:a16="http://schemas.microsoft.com/office/drawing/2014/main" id="{5D3226E5-2D8A-C6E7-70B8-89CEECD82F7E}"/>
              </a:ext>
            </a:extLst>
          </p:cNvPr>
          <p:cNvSpPr txBox="1"/>
          <p:nvPr/>
        </p:nvSpPr>
        <p:spPr>
          <a:xfrm>
            <a:off x="1664804" y="260648"/>
            <a:ext cx="5814392" cy="646331"/>
          </a:xfrm>
          <a:prstGeom prst="rect">
            <a:avLst/>
          </a:prstGeom>
          <a:noFill/>
        </p:spPr>
        <p:txBody>
          <a:bodyPr wrap="square">
            <a:spAutoFit/>
          </a:bodyPr>
          <a:lstStyle/>
          <a:p>
            <a:r>
              <a:rPr lang="en-US" sz="3600" b="1" dirty="0">
                <a:latin typeface="Times New Roman" pitchFamily="18" charset="0"/>
                <a:cs typeface="Times New Roman" pitchFamily="18" charset="0"/>
              </a:rPr>
              <a:t>Conclusion &amp; Future Scope</a:t>
            </a:r>
            <a:endParaRPr lang="en-IN" sz="3600" dirty="0"/>
          </a:p>
        </p:txBody>
      </p:sp>
      <p:sp>
        <p:nvSpPr>
          <p:cNvPr id="10" name="TextBox 9">
            <a:extLst>
              <a:ext uri="{FF2B5EF4-FFF2-40B4-BE49-F238E27FC236}">
                <a16:creationId xmlns:a16="http://schemas.microsoft.com/office/drawing/2014/main" id="{20B6707A-AE1E-160E-B447-E3B97AD09531}"/>
              </a:ext>
            </a:extLst>
          </p:cNvPr>
          <p:cNvSpPr txBox="1"/>
          <p:nvPr/>
        </p:nvSpPr>
        <p:spPr>
          <a:xfrm>
            <a:off x="143508" y="906979"/>
            <a:ext cx="8856984" cy="5324535"/>
          </a:xfrm>
          <a:prstGeom prst="rect">
            <a:avLst/>
          </a:prstGeom>
          <a:noFill/>
        </p:spPr>
        <p:txBody>
          <a:bodyPr wrap="square">
            <a:spAutoFit/>
          </a:bodyPr>
          <a:lstStyle/>
          <a:p>
            <a:r>
              <a:rPr lang="en-US" sz="1700" b="1"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Conclusion</a:t>
            </a:r>
          </a:p>
          <a:p>
            <a:r>
              <a:rPr lang="en-US" sz="1700" dirty="0">
                <a:latin typeface="Times New Roman" panose="02020603050405020304" pitchFamily="18" charset="0"/>
                <a:cs typeface="Times New Roman" panose="02020603050405020304" pitchFamily="18" charset="0"/>
              </a:rPr>
              <a:t>The project "Real Time Responsive Automated Window and Water Supply Operator for Indoor Plantations using IoT" has successfully demonstrated the feasibility and effectiveness of integrating IoT technologies into indoor farming environments. Throughout the development and implementation phases, several key achievements and findings have emerged:</a:t>
            </a:r>
          </a:p>
          <a:p>
            <a:pPr>
              <a:buFont typeface="+mj-lt"/>
              <a:buAutoNum type="arabicPeriod"/>
            </a:pPr>
            <a:r>
              <a:rPr lang="en-US" sz="1700" b="1" dirty="0">
                <a:latin typeface="Times New Roman" panose="02020603050405020304" pitchFamily="18" charset="0"/>
                <a:cs typeface="Times New Roman" panose="02020603050405020304" pitchFamily="18" charset="0"/>
              </a:rPr>
              <a:t>Automation and Efficiency</a:t>
            </a:r>
            <a:r>
              <a:rPr lang="en-US" sz="1700" dirty="0">
                <a:latin typeface="Times New Roman" panose="02020603050405020304" pitchFamily="18" charset="0"/>
                <a:cs typeface="Times New Roman" panose="02020603050405020304" pitchFamily="18" charset="0"/>
              </a:rPr>
              <a:t>: By automating the control of windows and water supply based on real-time environmental data (such as, soil moisture, and temperature), the system has significantly improved operational efficiency in indoor plantations. This automation reduces manual intervention, optimizes resource utilization, and enhances crop health and growth.</a:t>
            </a:r>
          </a:p>
          <a:p>
            <a:pPr>
              <a:buFont typeface="+mj-lt"/>
              <a:buAutoNum type="arabicPeriod"/>
            </a:pPr>
            <a:r>
              <a:rPr lang="en-US" sz="1700" b="1" dirty="0">
                <a:latin typeface="Times New Roman" panose="02020603050405020304" pitchFamily="18" charset="0"/>
                <a:cs typeface="Times New Roman" panose="02020603050405020304" pitchFamily="18" charset="0"/>
              </a:rPr>
              <a:t>Reliability and Responsiveness</a:t>
            </a:r>
            <a:r>
              <a:rPr lang="en-US" sz="1700" dirty="0">
                <a:latin typeface="Times New Roman" panose="02020603050405020304" pitchFamily="18" charset="0"/>
                <a:cs typeface="Times New Roman" panose="02020603050405020304" pitchFamily="18" charset="0"/>
              </a:rPr>
              <a:t>: Through rigorous testing and validation, the system has proven to be reliable and responsive under various environmental conditions. It effectively adjusts window openings and water supply mechanisms in real-time, ensuring that plants receive optimal conditions for growth.</a:t>
            </a:r>
          </a:p>
          <a:p>
            <a:pPr>
              <a:buFont typeface="+mj-lt"/>
              <a:buAutoNum type="arabicPeriod"/>
            </a:pPr>
            <a:r>
              <a:rPr lang="en-US" sz="1700" b="1" dirty="0">
                <a:latin typeface="Times New Roman" panose="02020603050405020304" pitchFamily="18" charset="0"/>
                <a:cs typeface="Times New Roman" panose="02020603050405020304" pitchFamily="18" charset="0"/>
              </a:rPr>
              <a:t>User Interface and Interaction</a:t>
            </a:r>
            <a:r>
              <a:rPr lang="en-US" sz="1700" dirty="0">
                <a:latin typeface="Times New Roman" panose="02020603050405020304" pitchFamily="18" charset="0"/>
                <a:cs typeface="Times New Roman" panose="02020603050405020304" pitchFamily="18" charset="0"/>
              </a:rPr>
              <a:t>: The development of a user-friendly interface has empowered users to monitor and manage the indoor plantation environment effortlessly. Features such as remote monitoring, setting preferences, and receiving alerts have enhanced user experience and control over the system.</a:t>
            </a:r>
          </a:p>
          <a:p>
            <a:pPr>
              <a:buFont typeface="+mj-lt"/>
              <a:buAutoNum type="arabicPeriod"/>
            </a:pPr>
            <a:r>
              <a:rPr lang="en-US" sz="1700" b="1" dirty="0">
                <a:latin typeface="Times New Roman" panose="02020603050405020304" pitchFamily="18" charset="0"/>
                <a:cs typeface="Times New Roman" panose="02020603050405020304" pitchFamily="18" charset="0"/>
              </a:rPr>
              <a:t>Challenges and Solutions</a:t>
            </a:r>
            <a:r>
              <a:rPr lang="en-US" sz="1700" dirty="0">
                <a:latin typeface="Times New Roman" panose="02020603050405020304" pitchFamily="18" charset="0"/>
                <a:cs typeface="Times New Roman" panose="02020603050405020304" pitchFamily="18" charset="0"/>
              </a:rPr>
              <a:t>: Challenges encountered during the project, including hardware limitations and connectivity issues, were systematically addressed. Solutions implemented have improved system robustness and performance.</a:t>
            </a:r>
          </a:p>
        </p:txBody>
      </p:sp>
    </p:spTree>
    <p:extLst>
      <p:ext uri="{BB962C8B-B14F-4D97-AF65-F5344CB8AC3E}">
        <p14:creationId xmlns:p14="http://schemas.microsoft.com/office/powerpoint/2010/main" val="4438915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CF6938A-5C13-4D8C-A617-A7316541FAEA}"/>
              </a:ext>
            </a:extLst>
          </p:cNvPr>
          <p:cNvSpPr>
            <a:spLocks noGrp="1"/>
          </p:cNvSpPr>
          <p:nvPr>
            <p:ph type="sldNum" sz="quarter" idx="12"/>
          </p:nvPr>
        </p:nvSpPr>
        <p:spPr/>
        <p:txBody>
          <a:bodyPr/>
          <a:lstStyle/>
          <a:p>
            <a:r>
              <a:rPr lang="en-IN" sz="1800" dirty="0">
                <a:solidFill>
                  <a:schemeClr val="tx1"/>
                </a:solidFill>
                <a:latin typeface="Times New Roman" panose="02020603050405020304" pitchFamily="18" charset="0"/>
                <a:cs typeface="Times New Roman" panose="02020603050405020304" pitchFamily="18" charset="0"/>
              </a:rPr>
              <a:t>13</a:t>
            </a:r>
          </a:p>
        </p:txBody>
      </p:sp>
      <p:sp>
        <p:nvSpPr>
          <p:cNvPr id="6" name="TextBox 5">
            <a:extLst>
              <a:ext uri="{FF2B5EF4-FFF2-40B4-BE49-F238E27FC236}">
                <a16:creationId xmlns:a16="http://schemas.microsoft.com/office/drawing/2014/main" id="{130C2071-45F8-EA5E-2817-CE26AC8E9026}"/>
              </a:ext>
            </a:extLst>
          </p:cNvPr>
          <p:cNvSpPr txBox="1"/>
          <p:nvPr/>
        </p:nvSpPr>
        <p:spPr>
          <a:xfrm>
            <a:off x="297184" y="548680"/>
            <a:ext cx="8389616" cy="5293757"/>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                                              </a:t>
            </a:r>
            <a:r>
              <a:rPr lang="en-US" sz="3200" b="1" dirty="0">
                <a:latin typeface="Times New Roman" panose="02020603050405020304" pitchFamily="18" charset="0"/>
                <a:cs typeface="Times New Roman" panose="02020603050405020304" pitchFamily="18" charset="0"/>
              </a:rPr>
              <a:t>Future Scope</a:t>
            </a:r>
          </a:p>
          <a:p>
            <a:pPr>
              <a:buFont typeface="+mj-lt"/>
              <a:buAutoNum type="arabicPeriod"/>
            </a:pPr>
            <a:r>
              <a:rPr lang="en-US" b="1" dirty="0">
                <a:latin typeface="Times New Roman" panose="02020603050405020304" pitchFamily="18" charset="0"/>
                <a:cs typeface="Times New Roman" panose="02020603050405020304" pitchFamily="18" charset="0"/>
              </a:rPr>
              <a:t>Advanced Sensor Integration</a:t>
            </a:r>
            <a:r>
              <a:rPr lang="en-US" dirty="0">
                <a:latin typeface="Times New Roman" panose="02020603050405020304" pitchFamily="18" charset="0"/>
                <a:cs typeface="Times New Roman" panose="02020603050405020304" pitchFamily="18" charset="0"/>
              </a:rPr>
              <a:t>: Incorporating advanced sensors for more precise environmental monitoring (e.g., CO2 levels, nutrient concentrations) can further optimize plant growth conditions.</a:t>
            </a:r>
          </a:p>
          <a:p>
            <a:pPr>
              <a:buFont typeface="+mj-lt"/>
              <a:buAutoNum type="arabicPeriod"/>
            </a:pPr>
            <a:r>
              <a:rPr lang="en-US" b="1" dirty="0">
                <a:latin typeface="Times New Roman" panose="02020603050405020304" pitchFamily="18" charset="0"/>
                <a:cs typeface="Times New Roman" panose="02020603050405020304" pitchFamily="18" charset="0"/>
              </a:rPr>
              <a:t>Predictive Analytics and Machine Learning</a:t>
            </a:r>
            <a:r>
              <a:rPr lang="en-US" dirty="0">
                <a:latin typeface="Times New Roman" panose="02020603050405020304" pitchFamily="18" charset="0"/>
                <a:cs typeface="Times New Roman" panose="02020603050405020304" pitchFamily="18" charset="0"/>
              </a:rPr>
              <a:t>: Implementing predictive analytics and machine learning algorithms can anticipate environmental changes and optimize system responses proactively.</a:t>
            </a:r>
          </a:p>
          <a:p>
            <a:pPr>
              <a:buFont typeface="+mj-lt"/>
              <a:buAutoNum type="arabicPeriod"/>
            </a:pPr>
            <a:r>
              <a:rPr lang="en-US" b="1" dirty="0">
                <a:latin typeface="Times New Roman" panose="02020603050405020304" pitchFamily="18" charset="0"/>
                <a:cs typeface="Times New Roman" panose="02020603050405020304" pitchFamily="18" charset="0"/>
              </a:rPr>
              <a:t>Energy Efficiency</a:t>
            </a:r>
            <a:r>
              <a:rPr lang="en-US" dirty="0">
                <a:latin typeface="Times New Roman" panose="02020603050405020304" pitchFamily="18" charset="0"/>
                <a:cs typeface="Times New Roman" panose="02020603050405020304" pitchFamily="18" charset="0"/>
              </a:rPr>
              <a:t>: Exploring energy-efficient technologies (such as solar-powered components or energy harvesting) can reduce operational costs and environmental impact.</a:t>
            </a:r>
          </a:p>
          <a:p>
            <a:pPr>
              <a:buFont typeface="+mj-lt"/>
              <a:buAutoNum type="arabicPeriod"/>
            </a:pPr>
            <a:r>
              <a:rPr lang="en-US" b="1" dirty="0">
                <a:latin typeface="Times New Roman" panose="02020603050405020304" pitchFamily="18" charset="0"/>
                <a:cs typeface="Times New Roman" panose="02020603050405020304" pitchFamily="18" charset="0"/>
              </a:rPr>
              <a:t>Scalability and Adaptability</a:t>
            </a:r>
            <a:r>
              <a:rPr lang="en-US" dirty="0">
                <a:latin typeface="Times New Roman" panose="02020603050405020304" pitchFamily="18" charset="0"/>
                <a:cs typeface="Times New Roman" panose="02020603050405020304" pitchFamily="18" charset="0"/>
              </a:rPr>
              <a:t>: Scaling the system for larger indoor plantations or adapting it to different crops and environments will broaden its applicability and impact.</a:t>
            </a:r>
          </a:p>
          <a:p>
            <a:pPr>
              <a:buFont typeface="+mj-lt"/>
              <a:buAutoNum type="arabicPeriod"/>
            </a:pPr>
            <a:r>
              <a:rPr lang="en-US" b="1" dirty="0">
                <a:latin typeface="Times New Roman" panose="02020603050405020304" pitchFamily="18" charset="0"/>
                <a:cs typeface="Times New Roman" panose="02020603050405020304" pitchFamily="18" charset="0"/>
              </a:rPr>
              <a:t>IoT Platform Enhancements</a:t>
            </a:r>
            <a:r>
              <a:rPr lang="en-US" dirty="0">
                <a:latin typeface="Times New Roman" panose="02020603050405020304" pitchFamily="18" charset="0"/>
                <a:cs typeface="Times New Roman" panose="02020603050405020304" pitchFamily="18" charset="0"/>
              </a:rPr>
              <a:t>: Continuously updating and integrating with advanced IoT platforms to leverage new features and capabilities in data analytics and management.</a:t>
            </a:r>
          </a:p>
          <a:p>
            <a:pPr>
              <a:buFont typeface="+mj-lt"/>
              <a:buAutoNum type="arabicPeriod"/>
            </a:pPr>
            <a:r>
              <a:rPr lang="en-US" b="1" dirty="0">
                <a:latin typeface="Times New Roman" panose="02020603050405020304" pitchFamily="18" charset="0"/>
                <a:cs typeface="Times New Roman" panose="02020603050405020304" pitchFamily="18" charset="0"/>
              </a:rPr>
              <a:t>Community and Industry Collaboration</a:t>
            </a:r>
            <a:r>
              <a:rPr lang="en-US" dirty="0">
                <a:latin typeface="Times New Roman" panose="02020603050405020304" pitchFamily="18" charset="0"/>
                <a:cs typeface="Times New Roman" panose="02020603050405020304" pitchFamily="18" charset="0"/>
              </a:rPr>
              <a:t>: Collaborating with indoor farming communities and industry stakeholders can foster innovation and adoption of IoT-driven solutions in agriculture.</a:t>
            </a:r>
          </a:p>
        </p:txBody>
      </p:sp>
    </p:spTree>
    <p:extLst>
      <p:ext uri="{BB962C8B-B14F-4D97-AF65-F5344CB8AC3E}">
        <p14:creationId xmlns:p14="http://schemas.microsoft.com/office/powerpoint/2010/main" val="22376933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r>
              <a:rPr lang="en-US" sz="1800" dirty="0">
                <a:solidFill>
                  <a:prstClr val="black"/>
                </a:solidFill>
                <a:latin typeface="Times New Roman" pitchFamily="18" charset="0"/>
                <a:cs typeface="Times New Roman" pitchFamily="18" charset="0"/>
              </a:rPr>
              <a:t>14</a:t>
            </a:r>
            <a:endParaRPr lang="en-IN" sz="1800" dirty="0">
              <a:solidFill>
                <a:prstClr val="black"/>
              </a:solidFill>
              <a:latin typeface="Times New Roman" pitchFamily="18" charset="0"/>
              <a:cs typeface="Times New Roman" pitchFamily="18" charset="0"/>
            </a:endParaRPr>
          </a:p>
        </p:txBody>
      </p:sp>
      <p:sp>
        <p:nvSpPr>
          <p:cNvPr id="8" name="Google Shape;165;p29">
            <a:extLst>
              <a:ext uri="{FF2B5EF4-FFF2-40B4-BE49-F238E27FC236}">
                <a16:creationId xmlns:a16="http://schemas.microsoft.com/office/drawing/2014/main" id="{4477D725-33F6-F73A-7506-6EB2D49866B3}"/>
              </a:ext>
            </a:extLst>
          </p:cNvPr>
          <p:cNvSpPr txBox="1">
            <a:spLocks/>
          </p:cNvSpPr>
          <p:nvPr/>
        </p:nvSpPr>
        <p:spPr>
          <a:xfrm>
            <a:off x="457200" y="205978"/>
            <a:ext cx="8229600" cy="857400"/>
          </a:xfrm>
          <a:prstGeom prst="rect">
            <a:avLst/>
          </a:prstGeom>
          <a:noFill/>
          <a:ln>
            <a:noFill/>
          </a:ln>
        </p:spPr>
        <p:txBody>
          <a:bodyPr spcFirstLastPara="1" wrap="square" lIns="91425" tIns="45700" rIns="91425" bIns="45700" anchor="ctr" anchorCtr="0">
            <a:normAutofit fontScale="82500"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spcBef>
                <a:spcPts val="0"/>
              </a:spcBef>
              <a:buClr>
                <a:schemeClr val="dk1"/>
              </a:buClr>
              <a:buSzPct val="100000"/>
              <a:buFont typeface="Calibri"/>
              <a:buNone/>
            </a:pPr>
            <a:r>
              <a:rPr lang="en-IN" b="1" dirty="0">
                <a:latin typeface="Times New Roman" panose="02020603050405020304" pitchFamily="18" charset="0"/>
                <a:cs typeface="Times New Roman" panose="02020603050405020304" pitchFamily="18" charset="0"/>
              </a:rPr>
              <a:t>Advantages , Applications, Limitations</a:t>
            </a:r>
          </a:p>
        </p:txBody>
      </p:sp>
      <p:sp>
        <p:nvSpPr>
          <p:cNvPr id="9" name="Google Shape;166;p29">
            <a:extLst>
              <a:ext uri="{FF2B5EF4-FFF2-40B4-BE49-F238E27FC236}">
                <a16:creationId xmlns:a16="http://schemas.microsoft.com/office/drawing/2014/main" id="{DAE69209-1444-0ABA-6EFB-491CCE303DEB}"/>
              </a:ext>
            </a:extLst>
          </p:cNvPr>
          <p:cNvSpPr txBox="1">
            <a:spLocks/>
          </p:cNvSpPr>
          <p:nvPr/>
        </p:nvSpPr>
        <p:spPr>
          <a:xfrm>
            <a:off x="107504" y="1323522"/>
            <a:ext cx="10404648" cy="1171199"/>
          </a:xfrm>
          <a:prstGeom prst="rect">
            <a:avLst/>
          </a:prstGeom>
          <a:noFill/>
          <a:ln>
            <a:noFill/>
          </a:ln>
        </p:spPr>
        <p:txBody>
          <a:bodyPr spcFirstLastPara="1" wrap="square" lIns="91425" tIns="45700" rIns="91425" bIns="45700" anchor="t" anchorCtr="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lvl="1" indent="0">
              <a:lnSpc>
                <a:spcPct val="80000"/>
              </a:lnSpc>
              <a:spcBef>
                <a:spcPts val="0"/>
              </a:spcBef>
              <a:buClr>
                <a:schemeClr val="dk1"/>
              </a:buClr>
              <a:buSzPts val="640"/>
              <a:buFont typeface="Arial" pitchFamily="34" charset="0"/>
              <a:buNone/>
            </a:pPr>
            <a:r>
              <a:rPr lang="en-US" sz="1800" b="1" dirty="0">
                <a:latin typeface="Times New Roman" panose="02020603050405020304" pitchFamily="18" charset="0"/>
                <a:cs typeface="Times New Roman" panose="02020603050405020304" pitchFamily="18" charset="0"/>
              </a:rPr>
              <a:t>Advantages:</a:t>
            </a:r>
          </a:p>
          <a:p>
            <a:pPr lvl="1" indent="-266700">
              <a:lnSpc>
                <a:spcPct val="80000"/>
              </a:lnSpc>
              <a:spcBef>
                <a:spcPts val="320"/>
              </a:spcBef>
              <a:buClr>
                <a:schemeClr val="dk1"/>
              </a:buClr>
              <a:buSzPts val="1300"/>
              <a:buFont typeface="Arial" pitchFamily="34" charset="0"/>
              <a:buChar char="•"/>
            </a:pPr>
            <a:r>
              <a:rPr lang="en-US" sz="1600" dirty="0">
                <a:latin typeface="Times New Roman" panose="02020603050405020304" pitchFamily="18" charset="0"/>
                <a:cs typeface="Times New Roman" panose="02020603050405020304" pitchFamily="18" charset="0"/>
              </a:rPr>
              <a:t>Saves manual monitoring time.</a:t>
            </a:r>
          </a:p>
          <a:p>
            <a:pPr lvl="1" indent="-266700">
              <a:lnSpc>
                <a:spcPct val="80000"/>
              </a:lnSpc>
              <a:spcBef>
                <a:spcPts val="320"/>
              </a:spcBef>
              <a:buClr>
                <a:schemeClr val="dk1"/>
              </a:buClr>
              <a:buSzPts val="1300"/>
              <a:buFont typeface="Arial" pitchFamily="34" charset="0"/>
              <a:buChar char="•"/>
            </a:pPr>
            <a:r>
              <a:rPr lang="en-US" sz="1600" dirty="0">
                <a:latin typeface="Times New Roman" panose="02020603050405020304" pitchFamily="18" charset="0"/>
                <a:cs typeface="Times New Roman" panose="02020603050405020304" pitchFamily="18" charset="0"/>
              </a:rPr>
              <a:t>Ensures atmospheric parameter's quality.</a:t>
            </a:r>
          </a:p>
          <a:p>
            <a:pPr lvl="1" indent="-266700">
              <a:lnSpc>
                <a:spcPct val="80000"/>
              </a:lnSpc>
              <a:spcBef>
                <a:spcPts val="320"/>
              </a:spcBef>
              <a:buClr>
                <a:schemeClr val="dk1"/>
              </a:buClr>
              <a:buSzPts val="1300"/>
              <a:buFont typeface="Arial" pitchFamily="34" charset="0"/>
              <a:buChar char="•"/>
            </a:pPr>
            <a:r>
              <a:rPr lang="en-US" sz="1600" dirty="0">
                <a:latin typeface="Times New Roman" panose="02020603050405020304" pitchFamily="18" charset="0"/>
                <a:cs typeface="Times New Roman" panose="02020603050405020304" pitchFamily="18" charset="0"/>
              </a:rPr>
              <a:t>No extra labor cost required for the operation.</a:t>
            </a:r>
          </a:p>
          <a:p>
            <a:pPr lvl="1" indent="-266700">
              <a:lnSpc>
                <a:spcPct val="80000"/>
              </a:lnSpc>
              <a:spcBef>
                <a:spcPts val="320"/>
              </a:spcBef>
              <a:buClr>
                <a:schemeClr val="dk1"/>
              </a:buClr>
              <a:buSzPts val="1300"/>
              <a:buFont typeface="Arial" pitchFamily="34" charset="0"/>
              <a:buChar char="•"/>
            </a:pPr>
            <a:r>
              <a:rPr lang="en-US" sz="1600" dirty="0">
                <a:latin typeface="Times New Roman" panose="02020603050405020304" pitchFamily="18" charset="0"/>
                <a:cs typeface="Times New Roman" panose="02020603050405020304" pitchFamily="18" charset="0"/>
              </a:rPr>
              <a:t>Safe protection from weather disruptions such as heavy rain, storms, strong winds etc.</a:t>
            </a:r>
          </a:p>
          <a:p>
            <a:pPr lvl="1" indent="-184150">
              <a:lnSpc>
                <a:spcPct val="80000"/>
              </a:lnSpc>
              <a:spcBef>
                <a:spcPts val="320"/>
              </a:spcBef>
              <a:buClr>
                <a:schemeClr val="dk1"/>
              </a:buClr>
              <a:buSzPts val="640"/>
              <a:buFont typeface="Arial" pitchFamily="34" charset="0"/>
              <a:buNone/>
            </a:pPr>
            <a:endParaRPr lang="en-US" sz="1600" dirty="0">
              <a:latin typeface="Times New Roman" panose="02020603050405020304" pitchFamily="18" charset="0"/>
              <a:cs typeface="Times New Roman" panose="02020603050405020304" pitchFamily="18" charset="0"/>
            </a:endParaRPr>
          </a:p>
          <a:p>
            <a:pPr marL="457200" lvl="1" indent="0">
              <a:lnSpc>
                <a:spcPct val="80000"/>
              </a:lnSpc>
              <a:spcBef>
                <a:spcPts val="320"/>
              </a:spcBef>
              <a:buClr>
                <a:schemeClr val="dk1"/>
              </a:buClr>
              <a:buSzPts val="640"/>
              <a:buFont typeface="Arial" pitchFamily="34" charset="0"/>
              <a:buNone/>
            </a:pPr>
            <a:endParaRPr lang="en-US" sz="1600" dirty="0">
              <a:latin typeface="Times New Roman" panose="02020603050405020304" pitchFamily="18" charset="0"/>
              <a:cs typeface="Times New Roman" panose="02020603050405020304" pitchFamily="18" charset="0"/>
            </a:endParaRPr>
          </a:p>
          <a:p>
            <a:pPr marL="457200" lvl="1" indent="0">
              <a:lnSpc>
                <a:spcPct val="80000"/>
              </a:lnSpc>
              <a:spcBef>
                <a:spcPts val="560"/>
              </a:spcBef>
              <a:buClr>
                <a:schemeClr val="dk1"/>
              </a:buClr>
              <a:buSzPts val="1120"/>
              <a:buFont typeface="Arial" pitchFamily="34" charset="0"/>
              <a:buNone/>
            </a:pPr>
            <a:endParaRPr lang="en-US" sz="1300" dirty="0">
              <a:latin typeface="Times New Roman" panose="02020603050405020304" pitchFamily="18" charset="0"/>
              <a:cs typeface="Times New Roman" panose="02020603050405020304" pitchFamily="18" charset="0"/>
            </a:endParaRPr>
          </a:p>
        </p:txBody>
      </p:sp>
      <p:sp>
        <p:nvSpPr>
          <p:cNvPr id="13" name="Google Shape;170;p29">
            <a:extLst>
              <a:ext uri="{FF2B5EF4-FFF2-40B4-BE49-F238E27FC236}">
                <a16:creationId xmlns:a16="http://schemas.microsoft.com/office/drawing/2014/main" id="{6BCC1ED7-B84B-B845-1800-30C94676EE64}"/>
              </a:ext>
            </a:extLst>
          </p:cNvPr>
          <p:cNvSpPr txBox="1"/>
          <p:nvPr/>
        </p:nvSpPr>
        <p:spPr>
          <a:xfrm>
            <a:off x="539552" y="2754865"/>
            <a:ext cx="8435280" cy="184661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b="1"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Applications :</a:t>
            </a:r>
            <a:endParaRPr b="1" i="0" u="none" strike="noStrike" cap="none" dirty="0">
              <a:solidFill>
                <a:srgbClr val="000000"/>
              </a:solidFill>
              <a:latin typeface="Times New Roman" panose="02020603050405020304" pitchFamily="18" charset="0"/>
              <a:ea typeface="Arial"/>
              <a:cs typeface="Times New Roman" panose="02020603050405020304" pitchFamily="18" charset="0"/>
              <a:sym typeface="Arial"/>
            </a:endParaRPr>
          </a:p>
          <a:p>
            <a:pPr marL="285750" marR="0" lvl="0" indent="-266700" algn="l" rtl="0">
              <a:lnSpc>
                <a:spcPct val="100000"/>
              </a:lnSpc>
              <a:spcBef>
                <a:spcPts val="0"/>
              </a:spcBef>
              <a:spcAft>
                <a:spcPts val="0"/>
              </a:spcAft>
              <a:buClr>
                <a:schemeClr val="dk1"/>
              </a:buClr>
              <a:buSzPts val="1300"/>
              <a:buFont typeface="Arial"/>
              <a:buChar char="•"/>
            </a:pPr>
            <a:r>
              <a:rPr lang="en" sz="16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The project targets indoor farms and plantation nurseries .</a:t>
            </a:r>
            <a:endParaRPr sz="1600" b="0" i="0" u="none" strike="noStrike" cap="none" dirty="0">
              <a:solidFill>
                <a:srgbClr val="000000"/>
              </a:solidFill>
              <a:latin typeface="Times New Roman" panose="02020603050405020304" pitchFamily="18" charset="0"/>
              <a:ea typeface="Arial"/>
              <a:cs typeface="Times New Roman" panose="02020603050405020304" pitchFamily="18" charset="0"/>
              <a:sym typeface="Arial"/>
            </a:endParaRPr>
          </a:p>
          <a:p>
            <a:pPr marL="285750" marR="0" lvl="0" indent="-266700" algn="l" rtl="0">
              <a:lnSpc>
                <a:spcPct val="100000"/>
              </a:lnSpc>
              <a:spcBef>
                <a:spcPts val="0"/>
              </a:spcBef>
              <a:spcAft>
                <a:spcPts val="0"/>
              </a:spcAft>
              <a:buClr>
                <a:schemeClr val="dk1"/>
              </a:buClr>
              <a:buSzPts val="1300"/>
              <a:buFont typeface="Arial"/>
              <a:buChar char="•"/>
            </a:pPr>
            <a:r>
              <a:rPr lang="en" sz="16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Targeted specially on indoor plantation farms that are located in remote areas or in countries where water scarcity is serious factor.</a:t>
            </a:r>
            <a:endParaRPr sz="1600" b="0" i="0" u="none" strike="noStrike" cap="none" dirty="0">
              <a:solidFill>
                <a:srgbClr val="000000"/>
              </a:solidFill>
              <a:latin typeface="Times New Roman" panose="02020603050405020304" pitchFamily="18" charset="0"/>
              <a:ea typeface="Arial"/>
              <a:cs typeface="Times New Roman" panose="02020603050405020304" pitchFamily="18" charset="0"/>
              <a:sym typeface="Arial"/>
            </a:endParaRPr>
          </a:p>
          <a:p>
            <a:pPr marL="285750" marR="0" lvl="0" indent="-266700" algn="l" rtl="0">
              <a:lnSpc>
                <a:spcPct val="100000"/>
              </a:lnSpc>
              <a:spcBef>
                <a:spcPts val="0"/>
              </a:spcBef>
              <a:spcAft>
                <a:spcPts val="0"/>
              </a:spcAft>
              <a:buClr>
                <a:schemeClr val="dk1"/>
              </a:buClr>
              <a:buSzPts val="1300"/>
              <a:buFont typeface="Arial"/>
              <a:buChar char="•"/>
            </a:pPr>
            <a:r>
              <a:rPr lang="en" sz="16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This set-up of the project can be alternatively modified to captivate endangered species of animals such as rare apes, birds, fish that are breed in captivation of specific temperature habitats. </a:t>
            </a:r>
            <a:endParaRPr sz="1600" b="0" i="0" u="none" strike="noStrike" cap="none" dirty="0">
              <a:solidFill>
                <a:srgbClr val="000000"/>
              </a:solidFill>
              <a:latin typeface="Times New Roman" panose="02020603050405020304" pitchFamily="18" charset="0"/>
              <a:ea typeface="Arial"/>
              <a:cs typeface="Times New Roman" panose="02020603050405020304" pitchFamily="18" charset="0"/>
              <a:sym typeface="Arial"/>
            </a:endParaRPr>
          </a:p>
        </p:txBody>
      </p:sp>
      <p:sp>
        <p:nvSpPr>
          <p:cNvPr id="14" name="Google Shape;171;p29">
            <a:extLst>
              <a:ext uri="{FF2B5EF4-FFF2-40B4-BE49-F238E27FC236}">
                <a16:creationId xmlns:a16="http://schemas.microsoft.com/office/drawing/2014/main" id="{E1F3984F-4989-CC3D-619E-A10FF288CDDA}"/>
              </a:ext>
            </a:extLst>
          </p:cNvPr>
          <p:cNvSpPr txBox="1"/>
          <p:nvPr/>
        </p:nvSpPr>
        <p:spPr>
          <a:xfrm>
            <a:off x="514368" y="4804077"/>
            <a:ext cx="7377413" cy="135417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b="1"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Limitations :</a:t>
            </a:r>
            <a:endParaRPr b="1" i="0" u="none" strike="noStrike" cap="none" dirty="0">
              <a:solidFill>
                <a:srgbClr val="000000"/>
              </a:solidFill>
              <a:latin typeface="Times New Roman" panose="02020603050405020304" pitchFamily="18" charset="0"/>
              <a:ea typeface="Arial"/>
              <a:cs typeface="Times New Roman" panose="02020603050405020304" pitchFamily="18" charset="0"/>
              <a:sym typeface="Arial"/>
            </a:endParaRPr>
          </a:p>
          <a:p>
            <a:pPr marL="285750" marR="0" lvl="0" indent="-266700" algn="l" rtl="0">
              <a:lnSpc>
                <a:spcPct val="100000"/>
              </a:lnSpc>
              <a:spcBef>
                <a:spcPts val="0"/>
              </a:spcBef>
              <a:spcAft>
                <a:spcPts val="0"/>
              </a:spcAft>
              <a:buClr>
                <a:schemeClr val="dk1"/>
              </a:buClr>
              <a:buSzPts val="1300"/>
              <a:buFont typeface="Arial"/>
              <a:buChar char="•"/>
            </a:pPr>
            <a:r>
              <a:rPr lang="en" sz="16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Cost of maintenance can be high cause of faulty components.</a:t>
            </a:r>
            <a:endParaRPr sz="1600" b="0" i="0" u="none" strike="noStrike" cap="none" dirty="0">
              <a:solidFill>
                <a:srgbClr val="000000"/>
              </a:solidFill>
              <a:latin typeface="Times New Roman" panose="02020603050405020304" pitchFamily="18" charset="0"/>
              <a:ea typeface="Arial"/>
              <a:cs typeface="Times New Roman" panose="02020603050405020304" pitchFamily="18" charset="0"/>
              <a:sym typeface="Arial"/>
            </a:endParaRPr>
          </a:p>
          <a:p>
            <a:pPr marL="285750" marR="0" lvl="0" indent="-266700" algn="l" rtl="0">
              <a:lnSpc>
                <a:spcPct val="100000"/>
              </a:lnSpc>
              <a:spcBef>
                <a:spcPts val="0"/>
              </a:spcBef>
              <a:spcAft>
                <a:spcPts val="0"/>
              </a:spcAft>
              <a:buClr>
                <a:schemeClr val="dk1"/>
              </a:buClr>
              <a:buSzPts val="1300"/>
              <a:buFont typeface="Arial"/>
              <a:buChar char="•"/>
            </a:pPr>
            <a:r>
              <a:rPr lang="en" sz="16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Normal gardener / Normal Zoo-keeper cannot operate the system without specific training/certified knowledge about IOT.</a:t>
            </a:r>
            <a:endParaRPr sz="1600" b="0" i="0" u="none" strike="noStrike" cap="none" dirty="0">
              <a:solidFill>
                <a:srgbClr val="000000"/>
              </a:solidFill>
              <a:latin typeface="Times New Roman" panose="02020603050405020304" pitchFamily="18" charset="0"/>
              <a:ea typeface="Arial"/>
              <a:cs typeface="Times New Roman" panose="02020603050405020304" pitchFamily="18" charset="0"/>
              <a:sym typeface="Arial"/>
            </a:endParaRPr>
          </a:p>
          <a:p>
            <a:pPr marL="285750" marR="0" lvl="0" indent="-266700" algn="l" rtl="0">
              <a:lnSpc>
                <a:spcPct val="100000"/>
              </a:lnSpc>
              <a:spcBef>
                <a:spcPts val="0"/>
              </a:spcBef>
              <a:spcAft>
                <a:spcPts val="0"/>
              </a:spcAft>
              <a:buClr>
                <a:schemeClr val="dk1"/>
              </a:buClr>
              <a:buSzPts val="1300"/>
              <a:buFont typeface="Arial"/>
              <a:buChar char="•"/>
            </a:pPr>
            <a:r>
              <a:rPr lang="en" sz="16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Margin for accuracy errors and risk factors of system fail is always to be considered</a:t>
            </a:r>
            <a:r>
              <a:rPr lang="en" sz="13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a:t>
            </a:r>
            <a:endParaRPr sz="1300" b="0" i="0" u="none" strike="noStrike" cap="none" dirty="0">
              <a:solidFill>
                <a:srgbClr val="000000"/>
              </a:solidFill>
              <a:latin typeface="Times New Roman" panose="02020603050405020304" pitchFamily="18" charset="0"/>
              <a:ea typeface="Arial"/>
              <a:cs typeface="Times New Roman" panose="02020603050405020304" pitchFamily="18" charset="0"/>
              <a:sym typeface="Arial"/>
            </a:endParaRPr>
          </a:p>
        </p:txBody>
      </p:sp>
    </p:spTree>
    <p:extLst>
      <p:ext uri="{BB962C8B-B14F-4D97-AF65-F5344CB8AC3E}">
        <p14:creationId xmlns:p14="http://schemas.microsoft.com/office/powerpoint/2010/main" val="29358372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04665"/>
            <a:ext cx="7772400" cy="1152127"/>
          </a:xfrm>
        </p:spPr>
        <p:txBody>
          <a:bodyPr>
            <a:noAutofit/>
          </a:bodyPr>
          <a:lstStyle/>
          <a:p>
            <a:r>
              <a:rPr lang="en-US" sz="3600" b="1" dirty="0">
                <a:latin typeface="Times New Roman" pitchFamily="18" charset="0"/>
                <a:cs typeface="Times New Roman" pitchFamily="18" charset="0"/>
              </a:rPr>
              <a:t>References</a:t>
            </a:r>
            <a:endParaRPr lang="en-IN" sz="3600" b="1"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r>
              <a:rPr lang="en-US" sz="1800" dirty="0">
                <a:solidFill>
                  <a:schemeClr val="tx1"/>
                </a:solidFill>
                <a:latin typeface="Times New Roman" pitchFamily="18" charset="0"/>
                <a:cs typeface="Times New Roman" pitchFamily="18" charset="0"/>
              </a:rPr>
              <a:t>15</a:t>
            </a:r>
            <a:endParaRPr lang="en-IN" sz="1800" dirty="0">
              <a:solidFill>
                <a:schemeClr val="tx1"/>
              </a:solidFill>
              <a:latin typeface="Times New Roman" pitchFamily="18" charset="0"/>
              <a:cs typeface="Times New Roman" pitchFamily="18" charset="0"/>
            </a:endParaRPr>
          </a:p>
        </p:txBody>
      </p:sp>
      <p:sp>
        <p:nvSpPr>
          <p:cNvPr id="14" name="TextBox 13">
            <a:extLst>
              <a:ext uri="{FF2B5EF4-FFF2-40B4-BE49-F238E27FC236}">
                <a16:creationId xmlns:a16="http://schemas.microsoft.com/office/drawing/2014/main" id="{EBFFB07E-AAFB-C0F6-1772-21ADFDE98D88}"/>
              </a:ext>
            </a:extLst>
          </p:cNvPr>
          <p:cNvSpPr txBox="1"/>
          <p:nvPr/>
        </p:nvSpPr>
        <p:spPr>
          <a:xfrm>
            <a:off x="144112" y="1283841"/>
            <a:ext cx="8542688" cy="5170646"/>
          </a:xfrm>
          <a:prstGeom prst="rect">
            <a:avLst/>
          </a:prstGeom>
          <a:noFill/>
        </p:spPr>
        <p:txBody>
          <a:bodyPr wrap="square">
            <a:spAutoFit/>
          </a:bodyPr>
          <a:lstStyle/>
          <a:p>
            <a:pPr marL="342900" marR="0" lvl="0" indent="-285750" algn="l" rtl="0">
              <a:lnSpc>
                <a:spcPct val="100000"/>
              </a:lnSpc>
              <a:spcBef>
                <a:spcPts val="0"/>
              </a:spcBef>
              <a:spcAft>
                <a:spcPts val="0"/>
              </a:spcAft>
              <a:buClr>
                <a:srgbClr val="000000"/>
              </a:buClr>
              <a:buSzPts val="1400"/>
              <a:buFont typeface="Arial"/>
              <a:buNone/>
            </a:pPr>
            <a:r>
              <a:rPr lang="en-IN"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[1] H. </a:t>
            </a:r>
            <a:r>
              <a:rPr lang="en-IN"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Shimizu, H. Matsumoto, M. </a:t>
            </a:r>
            <a:r>
              <a:rPr lang="en-IN" b="0" i="0" u="none" strike="noStrike" cap="none" dirty="0" err="1">
                <a:solidFill>
                  <a:schemeClr val="dk1"/>
                </a:solidFill>
                <a:latin typeface="Times New Roman" panose="02020603050405020304" pitchFamily="18" charset="0"/>
                <a:ea typeface="Calibri"/>
                <a:cs typeface="Times New Roman" panose="02020603050405020304" pitchFamily="18" charset="0"/>
                <a:sym typeface="Calibri"/>
              </a:rPr>
              <a:t>Asakura</a:t>
            </a:r>
            <a:r>
              <a:rPr lang="en-IN"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 and K. Watanabe, "A digital hygrometer," in    IEEE Transactions on Instrumentation and Measurement, vol. 37, no. 2, pp. 300-304, June 1988, </a:t>
            </a:r>
            <a:r>
              <a:rPr lang="en-IN" b="0" i="0" u="none" strike="noStrike" cap="none" dirty="0" err="1">
                <a:solidFill>
                  <a:schemeClr val="dk1"/>
                </a:solidFill>
                <a:latin typeface="Times New Roman" panose="02020603050405020304" pitchFamily="18" charset="0"/>
                <a:ea typeface="Calibri"/>
                <a:cs typeface="Times New Roman" panose="02020603050405020304" pitchFamily="18" charset="0"/>
                <a:sym typeface="Calibri"/>
              </a:rPr>
              <a:t>doi</a:t>
            </a:r>
            <a:r>
              <a:rPr lang="en-IN"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 10.1109/19.6071.</a:t>
            </a:r>
          </a:p>
          <a:p>
            <a:pPr marL="285750" marR="0" lvl="0" indent="-228600" algn="l" rtl="0">
              <a:lnSpc>
                <a:spcPct val="100000"/>
              </a:lnSpc>
              <a:spcBef>
                <a:spcPts val="0"/>
              </a:spcBef>
              <a:spcAft>
                <a:spcPts val="0"/>
              </a:spcAft>
              <a:buClr>
                <a:srgbClr val="000000"/>
              </a:buClr>
              <a:buSzPts val="1400"/>
              <a:buFont typeface="Arial"/>
              <a:buNone/>
            </a:pPr>
            <a:r>
              <a:rPr lang="en-IN"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[2] T. Islam, A. U. Khan, J. Akhtar and M. Z. U. Rahman, "A Digital Hygrometer for Trace    Moisture Measurement," in IEEE Transactions on Industrial Electronics, vol. 61, no. 10, pp. 5599-5605, Oct. 2014, </a:t>
            </a:r>
            <a:r>
              <a:rPr lang="en-IN" b="0" i="0" u="none" strike="noStrike" cap="none" dirty="0" err="1">
                <a:solidFill>
                  <a:schemeClr val="dk1"/>
                </a:solidFill>
                <a:latin typeface="Times New Roman" panose="02020603050405020304" pitchFamily="18" charset="0"/>
                <a:ea typeface="Calibri"/>
                <a:cs typeface="Times New Roman" panose="02020603050405020304" pitchFamily="18" charset="0"/>
                <a:sym typeface="Calibri"/>
              </a:rPr>
              <a:t>doi</a:t>
            </a:r>
            <a:r>
              <a:rPr lang="en-IN"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 10.1109/TIE.2013.2297295.</a:t>
            </a:r>
          </a:p>
          <a:p>
            <a:pPr marL="285750" marR="0" lvl="0" indent="-228600" algn="l" rtl="0">
              <a:lnSpc>
                <a:spcPct val="100000"/>
              </a:lnSpc>
              <a:spcBef>
                <a:spcPts val="0"/>
              </a:spcBef>
              <a:spcAft>
                <a:spcPts val="0"/>
              </a:spcAft>
              <a:buClr>
                <a:srgbClr val="000000"/>
              </a:buClr>
              <a:buSzPts val="1400"/>
              <a:buFont typeface="Arial"/>
              <a:buNone/>
            </a:pPr>
            <a:r>
              <a:rPr lang="en-IN"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[3] </a:t>
            </a:r>
            <a:r>
              <a:rPr lang="en-IN" b="0" i="0" u="none" strike="noStrike" cap="none" dirty="0" err="1">
                <a:solidFill>
                  <a:schemeClr val="dk1"/>
                </a:solidFill>
                <a:highlight>
                  <a:srgbClr val="FFFFFF"/>
                </a:highlight>
                <a:latin typeface="Times New Roman" panose="02020603050405020304" pitchFamily="18" charset="0"/>
                <a:ea typeface="Calibri"/>
                <a:cs typeface="Times New Roman" panose="02020603050405020304" pitchFamily="18" charset="0"/>
                <a:sym typeface="Calibri"/>
              </a:rPr>
              <a:t>Divani</a:t>
            </a:r>
            <a:r>
              <a:rPr lang="en-IN" b="0" i="0" u="none" strike="noStrike" cap="none" dirty="0">
                <a:solidFill>
                  <a:schemeClr val="dk1"/>
                </a:solidFill>
                <a:highlight>
                  <a:srgbClr val="FFFFFF"/>
                </a:highlight>
                <a:latin typeface="Times New Roman" panose="02020603050405020304" pitchFamily="18" charset="0"/>
                <a:ea typeface="Calibri"/>
                <a:cs typeface="Times New Roman" panose="02020603050405020304" pitchFamily="18" charset="0"/>
                <a:sym typeface="Calibri"/>
              </a:rPr>
              <a:t>, D., Patil, P., &amp; Punjabi, S. K. (2016/04//). Automated plant watering system.</a:t>
            </a:r>
            <a:r>
              <a:rPr lang="en-IN" b="0" i="1" u="none" strike="noStrike" cap="none" dirty="0">
                <a:solidFill>
                  <a:schemeClr val="dk1"/>
                </a:solidFill>
                <a:highlight>
                  <a:srgbClr val="FFFFFF"/>
                </a:highlight>
                <a:latin typeface="Times New Roman" panose="02020603050405020304" pitchFamily="18" charset="0"/>
                <a:ea typeface="Calibri"/>
                <a:cs typeface="Times New Roman" panose="02020603050405020304" pitchFamily="18" charset="0"/>
                <a:sym typeface="Calibri"/>
              </a:rPr>
              <a:t> The Institute of Electrical and Electronics Engineers, Inc.(IEEE) Conference Proceedings., </a:t>
            </a:r>
            <a:r>
              <a:rPr lang="en-IN" b="0" i="0" u="none" strike="noStrike" cap="none" dirty="0">
                <a:solidFill>
                  <a:schemeClr val="dk1"/>
                </a:solidFill>
                <a:highlight>
                  <a:srgbClr val="FFFFFF"/>
                </a:highlight>
                <a:latin typeface="Times New Roman" panose="02020603050405020304" pitchFamily="18" charset="0"/>
                <a:ea typeface="Calibri"/>
                <a:cs typeface="Times New Roman" panose="02020603050405020304" pitchFamily="18" charset="0"/>
                <a:sym typeface="Calibri"/>
              </a:rPr>
              <a:t>, 180-182. </a:t>
            </a:r>
            <a:r>
              <a:rPr lang="en-IN" b="0" i="0" u="none" strike="noStrike" cap="none" dirty="0" err="1">
                <a:solidFill>
                  <a:schemeClr val="dk1"/>
                </a:solidFill>
                <a:highlight>
                  <a:srgbClr val="FFFFFF"/>
                </a:highlight>
                <a:latin typeface="Times New Roman" panose="02020603050405020304" pitchFamily="18" charset="0"/>
                <a:ea typeface="Calibri"/>
                <a:cs typeface="Times New Roman" panose="02020603050405020304" pitchFamily="18" charset="0"/>
                <a:sym typeface="Calibri"/>
              </a:rPr>
              <a:t>Doi:https</a:t>
            </a:r>
            <a:r>
              <a:rPr lang="en-IN" b="0" i="0" u="none" strike="noStrike" cap="none" dirty="0">
                <a:solidFill>
                  <a:schemeClr val="dk1"/>
                </a:solidFill>
                <a:highlight>
                  <a:srgbClr val="FFFFFF"/>
                </a:highlight>
                <a:latin typeface="Times New Roman" panose="02020603050405020304" pitchFamily="18" charset="0"/>
                <a:ea typeface="Calibri"/>
                <a:cs typeface="Times New Roman" panose="02020603050405020304" pitchFamily="18" charset="0"/>
                <a:sym typeface="Calibri"/>
              </a:rPr>
              <a:t>://doi.org/10.1109/ICCPEIC.2016.7557245.</a:t>
            </a:r>
          </a:p>
          <a:p>
            <a:pPr marL="285750" marR="0" lvl="0" indent="-228600" algn="l" rtl="0">
              <a:lnSpc>
                <a:spcPct val="100000"/>
              </a:lnSpc>
              <a:spcBef>
                <a:spcPts val="0"/>
              </a:spcBef>
              <a:spcAft>
                <a:spcPts val="0"/>
              </a:spcAft>
              <a:buClr>
                <a:srgbClr val="000000"/>
              </a:buClr>
              <a:buSzPts val="1400"/>
              <a:buFont typeface="Arial"/>
              <a:buNone/>
            </a:pPr>
            <a:r>
              <a:rPr lang="en-IN" b="0" i="0" u="none" strike="noStrike" cap="none" dirty="0">
                <a:solidFill>
                  <a:schemeClr val="dk1"/>
                </a:solidFill>
                <a:highlight>
                  <a:srgbClr val="FFFFFF"/>
                </a:highlight>
                <a:latin typeface="Times New Roman" panose="02020603050405020304" pitchFamily="18" charset="0"/>
                <a:ea typeface="Calibri"/>
                <a:cs typeface="Times New Roman" panose="02020603050405020304" pitchFamily="18" charset="0"/>
                <a:sym typeface="Calibri"/>
              </a:rPr>
              <a:t>[4] Roy, P., Saha, J., Dutta, N., &amp; Chandra, S. (2018). </a:t>
            </a:r>
            <a:r>
              <a:rPr lang="en-IN" b="0" i="1" u="none" strike="noStrike" cap="none" dirty="0">
                <a:solidFill>
                  <a:schemeClr val="dk1"/>
                </a:solidFill>
                <a:highlight>
                  <a:srgbClr val="FFFFFF"/>
                </a:highlight>
                <a:latin typeface="Times New Roman" panose="02020603050405020304" pitchFamily="18" charset="0"/>
                <a:ea typeface="Calibri"/>
                <a:cs typeface="Times New Roman" panose="02020603050405020304" pitchFamily="18" charset="0"/>
                <a:sym typeface="Calibri"/>
              </a:rPr>
              <a:t>Microcontroller based automated room light and fan controller</a:t>
            </a:r>
            <a:r>
              <a:rPr lang="en-IN" b="0" i="0" u="none" strike="noStrike" cap="none" dirty="0">
                <a:solidFill>
                  <a:schemeClr val="dk1"/>
                </a:solidFill>
                <a:highlight>
                  <a:srgbClr val="FFFFFF"/>
                </a:highlight>
                <a:latin typeface="Times New Roman" panose="02020603050405020304" pitchFamily="18" charset="0"/>
                <a:ea typeface="Calibri"/>
                <a:cs typeface="Times New Roman" panose="02020603050405020304" pitchFamily="18" charset="0"/>
                <a:sym typeface="Calibri"/>
              </a:rPr>
              <a:t>. Piscataway: The Institute of Electrical and Electronics Engineers, Inc. (IEEE).</a:t>
            </a:r>
          </a:p>
          <a:p>
            <a:pPr marL="285750" marR="0" lvl="0" indent="-228600" algn="l" rtl="0">
              <a:lnSpc>
                <a:spcPct val="100000"/>
              </a:lnSpc>
              <a:spcBef>
                <a:spcPts val="0"/>
              </a:spcBef>
              <a:spcAft>
                <a:spcPts val="0"/>
              </a:spcAft>
              <a:buClr>
                <a:srgbClr val="000000"/>
              </a:buClr>
              <a:buSzPts val="1400"/>
              <a:buFont typeface="Arial"/>
              <a:buNone/>
            </a:pPr>
            <a:r>
              <a:rPr lang="en-IN" b="0" i="0" u="none" strike="noStrike" cap="none" dirty="0">
                <a:solidFill>
                  <a:schemeClr val="dk1"/>
                </a:solidFill>
                <a:highlight>
                  <a:srgbClr val="FFFFFF"/>
                </a:highlight>
                <a:latin typeface="Times New Roman" panose="02020603050405020304" pitchFamily="18" charset="0"/>
                <a:ea typeface="Calibri"/>
                <a:cs typeface="Times New Roman" panose="02020603050405020304" pitchFamily="18" charset="0"/>
                <a:sym typeface="Calibri"/>
              </a:rPr>
              <a:t>[5] UV water treatment. (2001/05/31/). </a:t>
            </a:r>
            <a:r>
              <a:rPr lang="en-IN" b="0" i="1" u="none" strike="noStrike" cap="none" dirty="0">
                <a:solidFill>
                  <a:schemeClr val="dk1"/>
                </a:solidFill>
                <a:highlight>
                  <a:srgbClr val="FFFFFF"/>
                </a:highlight>
                <a:latin typeface="Times New Roman" panose="02020603050405020304" pitchFamily="18" charset="0"/>
                <a:ea typeface="Calibri"/>
                <a:cs typeface="Times New Roman" panose="02020603050405020304" pitchFamily="18" charset="0"/>
                <a:sym typeface="Calibri"/>
              </a:rPr>
              <a:t>Process Cooling &amp; Equipment (Online), </a:t>
            </a:r>
            <a:endParaRPr lang="en-IN" b="0" i="0" u="none" strike="noStrike" cap="none" dirty="0">
              <a:solidFill>
                <a:schemeClr val="dk1"/>
              </a:solidFill>
              <a:highlight>
                <a:srgbClr val="FFFFFF"/>
              </a:highlight>
              <a:latin typeface="Times New Roman" panose="02020603050405020304" pitchFamily="18" charset="0"/>
              <a:ea typeface="Calibri"/>
              <a:cs typeface="Times New Roman" panose="02020603050405020304" pitchFamily="18" charset="0"/>
              <a:sym typeface="Calibri"/>
            </a:endParaRPr>
          </a:p>
          <a:p>
            <a:pPr marL="285750" marR="0" lvl="0" indent="-228600" algn="l" rtl="0">
              <a:lnSpc>
                <a:spcPct val="100000"/>
              </a:lnSpc>
              <a:spcBef>
                <a:spcPts val="0"/>
              </a:spcBef>
              <a:spcAft>
                <a:spcPts val="0"/>
              </a:spcAft>
              <a:buClr>
                <a:srgbClr val="000000"/>
              </a:buClr>
              <a:buSzPts val="1400"/>
              <a:buFont typeface="Arial"/>
              <a:buNone/>
            </a:pPr>
            <a:r>
              <a:rPr lang="en-IN" b="0" i="0" u="none" strike="noStrike" cap="none" dirty="0">
                <a:solidFill>
                  <a:schemeClr val="dk1"/>
                </a:solidFill>
                <a:highlight>
                  <a:srgbClr val="FFFFFF"/>
                </a:highlight>
                <a:latin typeface="Times New Roman" panose="02020603050405020304" pitchFamily="18" charset="0"/>
                <a:ea typeface="Calibri"/>
                <a:cs typeface="Times New Roman" panose="02020603050405020304" pitchFamily="18" charset="0"/>
                <a:sym typeface="Calibri"/>
              </a:rPr>
              <a:t>[6] Silva, R. G., Szabo, J., Namboodiri, V., Krishnan, E. R., Rodriguez, J., &amp; Zeigler, A. (2018/06//). Evaluation of an environmentally sustainable UV-assisted water treatment system for the removal of bacillus </a:t>
            </a:r>
            <a:r>
              <a:rPr lang="en-IN" b="0" i="0" u="none" strike="noStrike" cap="none" dirty="0" err="1">
                <a:solidFill>
                  <a:schemeClr val="dk1"/>
                </a:solidFill>
                <a:highlight>
                  <a:srgbClr val="FFFFFF"/>
                </a:highlight>
                <a:latin typeface="Times New Roman" panose="02020603050405020304" pitchFamily="18" charset="0"/>
                <a:ea typeface="Calibri"/>
                <a:cs typeface="Times New Roman" panose="02020603050405020304" pitchFamily="18" charset="0"/>
                <a:sym typeface="Calibri"/>
              </a:rPr>
              <a:t>globigii</a:t>
            </a:r>
            <a:r>
              <a:rPr lang="en-IN" b="0" i="0" u="none" strike="noStrike" cap="none" dirty="0">
                <a:solidFill>
                  <a:schemeClr val="dk1"/>
                </a:solidFill>
                <a:highlight>
                  <a:srgbClr val="FFFFFF"/>
                </a:highlight>
                <a:latin typeface="Times New Roman" panose="02020603050405020304" pitchFamily="18" charset="0"/>
                <a:ea typeface="Calibri"/>
                <a:cs typeface="Times New Roman" panose="02020603050405020304" pitchFamily="18" charset="0"/>
                <a:sym typeface="Calibri"/>
              </a:rPr>
              <a:t> spores in water.</a:t>
            </a:r>
            <a:r>
              <a:rPr lang="en-IN" b="0" i="1" u="none" strike="noStrike" cap="none" dirty="0">
                <a:solidFill>
                  <a:schemeClr val="dk1"/>
                </a:solidFill>
                <a:highlight>
                  <a:srgbClr val="FFFFFF"/>
                </a:highlight>
                <a:latin typeface="Times New Roman" panose="02020603050405020304" pitchFamily="18" charset="0"/>
                <a:ea typeface="Calibri"/>
                <a:cs typeface="Times New Roman" panose="02020603050405020304" pitchFamily="18" charset="0"/>
                <a:sym typeface="Calibri"/>
              </a:rPr>
              <a:t> Water Science &amp; Technology, 18</a:t>
            </a:r>
            <a:r>
              <a:rPr lang="en-IN" b="0" i="0" u="none" strike="noStrike" cap="none" dirty="0">
                <a:solidFill>
                  <a:schemeClr val="dk1"/>
                </a:solidFill>
                <a:highlight>
                  <a:srgbClr val="FFFFFF"/>
                </a:highlight>
                <a:latin typeface="Times New Roman" panose="02020603050405020304" pitchFamily="18" charset="0"/>
                <a:ea typeface="Calibri"/>
                <a:cs typeface="Times New Roman" panose="02020603050405020304" pitchFamily="18" charset="0"/>
                <a:sym typeface="Calibri"/>
              </a:rPr>
              <a:t>(3), 968-975. </a:t>
            </a:r>
            <a:r>
              <a:rPr lang="en-IN" b="0" i="0" u="none" strike="noStrike" cap="none" dirty="0" err="1">
                <a:solidFill>
                  <a:schemeClr val="dk1"/>
                </a:solidFill>
                <a:highlight>
                  <a:srgbClr val="FFFFFF"/>
                </a:highlight>
                <a:latin typeface="Times New Roman" panose="02020603050405020304" pitchFamily="18" charset="0"/>
                <a:ea typeface="Calibri"/>
                <a:cs typeface="Times New Roman" panose="02020603050405020304" pitchFamily="18" charset="0"/>
                <a:sym typeface="Calibri"/>
              </a:rPr>
              <a:t>doi:</a:t>
            </a:r>
            <a:r>
              <a:rPr lang="en-IN" b="0" i="0" strike="noStrike" cap="none" dirty="0" err="1">
                <a:solidFill>
                  <a:schemeClr val="dk1"/>
                </a:solidFill>
                <a:highlight>
                  <a:srgbClr val="FFFFFF"/>
                </a:highlight>
                <a:latin typeface="Times New Roman" panose="02020603050405020304" pitchFamily="18" charset="0"/>
                <a:ea typeface="Calibri"/>
                <a:cs typeface="Times New Roman" panose="02020603050405020304" pitchFamily="18" charset="0"/>
                <a:sym typeface="Calibri"/>
              </a:rPr>
              <a:t>https</a:t>
            </a:r>
            <a:r>
              <a:rPr lang="en-IN" b="0" i="0" strike="noStrike" cap="none" dirty="0">
                <a:solidFill>
                  <a:schemeClr val="dk1"/>
                </a:solidFill>
                <a:highlight>
                  <a:srgbClr val="FFFFFF"/>
                </a:highlight>
                <a:latin typeface="Times New Roman" panose="02020603050405020304" pitchFamily="18" charset="0"/>
                <a:ea typeface="Calibri"/>
                <a:cs typeface="Times New Roman" panose="02020603050405020304" pitchFamily="18" charset="0"/>
                <a:sym typeface="Calibri"/>
              </a:rPr>
              <a:t>://doi.org/10.2166/ws.2017.165</a:t>
            </a:r>
            <a:endParaRPr lang="en-IN"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a:p>
            <a:pPr marL="914400" marR="0" lvl="0" indent="0" algn="just" rtl="0">
              <a:lnSpc>
                <a:spcPct val="100000"/>
              </a:lnSpc>
              <a:spcBef>
                <a:spcPts val="0"/>
              </a:spcBef>
              <a:spcAft>
                <a:spcPts val="0"/>
              </a:spcAft>
              <a:buClr>
                <a:srgbClr val="000000"/>
              </a:buClr>
              <a:buSzPts val="1800"/>
              <a:buFont typeface="Arial"/>
              <a:buNone/>
            </a:pPr>
            <a:endParaRPr lang="en-IN" sz="24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E5A0D4BD-2C3D-08C7-B717-8BA55CB1CF54}"/>
              </a:ext>
            </a:extLst>
          </p:cNvPr>
          <p:cNvSpPr>
            <a:spLocks noGrp="1"/>
          </p:cNvSpPr>
          <p:nvPr>
            <p:ph type="sldNum" sz="quarter" idx="12"/>
          </p:nvPr>
        </p:nvSpPr>
        <p:spPr/>
        <p:txBody>
          <a:bodyPr/>
          <a:lstStyle/>
          <a:p>
            <a:r>
              <a:rPr lang="en-IN" sz="1800" dirty="0">
                <a:solidFill>
                  <a:schemeClr val="tx1"/>
                </a:solidFill>
                <a:latin typeface="Times New Roman" panose="02020603050405020304" pitchFamily="18" charset="0"/>
                <a:cs typeface="Times New Roman" panose="02020603050405020304" pitchFamily="18" charset="0"/>
              </a:rPr>
              <a:t>16</a:t>
            </a:r>
          </a:p>
        </p:txBody>
      </p:sp>
      <p:sp>
        <p:nvSpPr>
          <p:cNvPr id="7" name="Subtitle 5">
            <a:extLst>
              <a:ext uri="{FF2B5EF4-FFF2-40B4-BE49-F238E27FC236}">
                <a16:creationId xmlns:a16="http://schemas.microsoft.com/office/drawing/2014/main" id="{1E818C7C-9E41-C0F5-1D9D-AE1BC656C19C}"/>
              </a:ext>
            </a:extLst>
          </p:cNvPr>
          <p:cNvSpPr>
            <a:spLocks noGrp="1"/>
          </p:cNvSpPr>
          <p:nvPr>
            <p:ph idx="1"/>
          </p:nvPr>
        </p:nvSpPr>
        <p:spPr>
          <a:xfrm>
            <a:off x="426328" y="620688"/>
            <a:ext cx="8229600" cy="4525963"/>
          </a:xfrm>
        </p:spPr>
        <p:txBody>
          <a:bodyPr>
            <a:normAutofit fontScale="92500" lnSpcReduction="20000"/>
          </a:bodyPr>
          <a:lstStyle/>
          <a:p>
            <a:pPr marL="0" indent="0">
              <a:buNone/>
            </a:pPr>
            <a:endParaRPr lang="en-IN" sz="2000" b="1" dirty="0">
              <a:solidFill>
                <a:schemeClr val="tx1"/>
              </a:solidFill>
              <a:latin typeface="Times New Roman" panose="02020603050405020304" pitchFamily="18" charset="0"/>
              <a:cs typeface="Times New Roman" panose="02020603050405020304" pitchFamily="18" charset="0"/>
            </a:endParaRPr>
          </a:p>
          <a:p>
            <a:endParaRPr lang="en-IN" sz="1800" b="1" dirty="0">
              <a:solidFill>
                <a:schemeClr val="tx1"/>
              </a:solidFill>
              <a:latin typeface="Times New Roman" panose="02020603050405020304" pitchFamily="18" charset="0"/>
              <a:cs typeface="Times New Roman" panose="02020603050405020304" pitchFamily="18" charset="0"/>
            </a:endParaRPr>
          </a:p>
          <a:p>
            <a:pPr marL="285750" lvl="0" indent="-228600" algn="l" rtl="0">
              <a:spcBef>
                <a:spcPts val="0"/>
              </a:spcBef>
              <a:spcAft>
                <a:spcPts val="0"/>
              </a:spcAft>
              <a:buNone/>
            </a:pPr>
            <a:r>
              <a:rPr lang="en-IN" sz="1900" dirty="0">
                <a:solidFill>
                  <a:schemeClr val="dk1"/>
                </a:solidFill>
                <a:highlight>
                  <a:schemeClr val="lt1"/>
                </a:highlight>
                <a:latin typeface="Times New Roman" panose="02020603050405020304" pitchFamily="18" charset="0"/>
                <a:ea typeface="Calibri"/>
                <a:cs typeface="Times New Roman" panose="02020603050405020304" pitchFamily="18" charset="0"/>
                <a:sym typeface="Calibri"/>
              </a:rPr>
              <a:t>[7] </a:t>
            </a:r>
            <a:r>
              <a:rPr lang="en-IN" sz="1900" dirty="0" err="1">
                <a:solidFill>
                  <a:schemeClr val="dk1"/>
                </a:solidFill>
                <a:highlight>
                  <a:srgbClr val="FFFFFF"/>
                </a:highlight>
                <a:latin typeface="Times New Roman" panose="02020603050405020304" pitchFamily="18" charset="0"/>
                <a:ea typeface="Calibri"/>
                <a:cs typeface="Times New Roman" panose="02020603050405020304" pitchFamily="18" charset="0"/>
                <a:sym typeface="Calibri"/>
              </a:rPr>
              <a:t>Ratnadewi</a:t>
            </a:r>
            <a:r>
              <a:rPr lang="en-IN" sz="1900" dirty="0">
                <a:solidFill>
                  <a:schemeClr val="dk1"/>
                </a:solidFill>
                <a:highlight>
                  <a:srgbClr val="FFFFFF"/>
                </a:highlight>
                <a:latin typeface="Times New Roman" panose="02020603050405020304" pitchFamily="18" charset="0"/>
                <a:ea typeface="Calibri"/>
                <a:cs typeface="Times New Roman" panose="02020603050405020304" pitchFamily="18" charset="0"/>
                <a:sym typeface="Calibri"/>
              </a:rPr>
              <a:t>, R., </a:t>
            </a:r>
            <a:r>
              <a:rPr lang="en-IN" sz="1900" dirty="0" err="1">
                <a:solidFill>
                  <a:schemeClr val="dk1"/>
                </a:solidFill>
                <a:highlight>
                  <a:srgbClr val="FFFFFF"/>
                </a:highlight>
                <a:latin typeface="Times New Roman" panose="02020603050405020304" pitchFamily="18" charset="0"/>
                <a:ea typeface="Calibri"/>
                <a:cs typeface="Times New Roman" panose="02020603050405020304" pitchFamily="18" charset="0"/>
                <a:sym typeface="Calibri"/>
              </a:rPr>
              <a:t>Nurdiyanto</a:t>
            </a:r>
            <a:r>
              <a:rPr lang="en-IN" sz="1900" dirty="0">
                <a:solidFill>
                  <a:schemeClr val="dk1"/>
                </a:solidFill>
                <a:highlight>
                  <a:srgbClr val="FFFFFF"/>
                </a:highlight>
                <a:latin typeface="Times New Roman" panose="02020603050405020304" pitchFamily="18" charset="0"/>
                <a:ea typeface="Calibri"/>
                <a:cs typeface="Times New Roman" panose="02020603050405020304" pitchFamily="18" charset="0"/>
                <a:sym typeface="Calibri"/>
              </a:rPr>
              <a:t>, H., </a:t>
            </a:r>
            <a:r>
              <a:rPr lang="en-IN" sz="1900" dirty="0" err="1">
                <a:solidFill>
                  <a:schemeClr val="dk1"/>
                </a:solidFill>
                <a:highlight>
                  <a:srgbClr val="FFFFFF"/>
                </a:highlight>
                <a:latin typeface="Times New Roman" panose="02020603050405020304" pitchFamily="18" charset="0"/>
                <a:ea typeface="Calibri"/>
                <a:cs typeface="Times New Roman" panose="02020603050405020304" pitchFamily="18" charset="0"/>
                <a:sym typeface="Calibri"/>
              </a:rPr>
              <a:t>Najmurrokhman</a:t>
            </a:r>
            <a:r>
              <a:rPr lang="en-IN" sz="1900" dirty="0">
                <a:solidFill>
                  <a:schemeClr val="dk1"/>
                </a:solidFill>
                <a:highlight>
                  <a:srgbClr val="FFFFFF"/>
                </a:highlight>
                <a:latin typeface="Times New Roman" panose="02020603050405020304" pitchFamily="18" charset="0"/>
                <a:ea typeface="Calibri"/>
                <a:cs typeface="Times New Roman" panose="02020603050405020304" pitchFamily="18" charset="0"/>
                <a:sym typeface="Calibri"/>
              </a:rPr>
              <a:t>, A., Prabowo, C., </a:t>
            </a:r>
            <a:r>
              <a:rPr lang="en-IN" sz="1900" dirty="0" err="1">
                <a:solidFill>
                  <a:schemeClr val="dk1"/>
                </a:solidFill>
                <a:highlight>
                  <a:srgbClr val="FFFFFF"/>
                </a:highlight>
                <a:latin typeface="Times New Roman" panose="02020603050405020304" pitchFamily="18" charset="0"/>
                <a:ea typeface="Calibri"/>
                <a:cs typeface="Times New Roman" panose="02020603050405020304" pitchFamily="18" charset="0"/>
                <a:sym typeface="Calibri"/>
              </a:rPr>
              <a:t>Idmayanti</a:t>
            </a:r>
            <a:r>
              <a:rPr lang="en-IN" sz="1900" dirty="0">
                <a:solidFill>
                  <a:schemeClr val="dk1"/>
                </a:solidFill>
                <a:highlight>
                  <a:srgbClr val="FFFFFF"/>
                </a:highlight>
                <a:latin typeface="Times New Roman" panose="02020603050405020304" pitchFamily="18" charset="0"/>
                <a:ea typeface="Calibri"/>
                <a:cs typeface="Times New Roman" panose="02020603050405020304" pitchFamily="18" charset="0"/>
                <a:sym typeface="Calibri"/>
              </a:rPr>
              <a:t>, R., </a:t>
            </a:r>
            <a:r>
              <a:rPr lang="en-IN" sz="1900" dirty="0" err="1">
                <a:solidFill>
                  <a:schemeClr val="dk1"/>
                </a:solidFill>
                <a:highlight>
                  <a:srgbClr val="FFFFFF"/>
                </a:highlight>
                <a:latin typeface="Times New Roman" panose="02020603050405020304" pitchFamily="18" charset="0"/>
                <a:ea typeface="Calibri"/>
                <a:cs typeface="Times New Roman" panose="02020603050405020304" pitchFamily="18" charset="0"/>
                <a:sym typeface="Calibri"/>
              </a:rPr>
              <a:t>Eteruddin</a:t>
            </a:r>
            <a:r>
              <a:rPr lang="en-IN" sz="1900" dirty="0">
                <a:solidFill>
                  <a:schemeClr val="dk1"/>
                </a:solidFill>
                <a:highlight>
                  <a:srgbClr val="FFFFFF"/>
                </a:highlight>
                <a:latin typeface="Times New Roman" panose="02020603050405020304" pitchFamily="18" charset="0"/>
                <a:ea typeface="Calibri"/>
                <a:cs typeface="Times New Roman" panose="02020603050405020304" pitchFamily="18" charset="0"/>
                <a:sym typeface="Calibri"/>
              </a:rPr>
              <a:t>, H., . . . Rahim, R. (2018/08//). Control and notification automatic water pump with </a:t>
            </a:r>
            <a:r>
              <a:rPr lang="en-IN" sz="1900" dirty="0" err="1">
                <a:solidFill>
                  <a:schemeClr val="dk1"/>
                </a:solidFill>
                <a:highlight>
                  <a:srgbClr val="FFFFFF"/>
                </a:highlight>
                <a:latin typeface="Times New Roman" panose="02020603050405020304" pitchFamily="18" charset="0"/>
                <a:ea typeface="Calibri"/>
                <a:cs typeface="Times New Roman" panose="02020603050405020304" pitchFamily="18" charset="0"/>
                <a:sym typeface="Calibri"/>
              </a:rPr>
              <a:t>arduino</a:t>
            </a:r>
            <a:r>
              <a:rPr lang="en-IN" sz="1900" dirty="0">
                <a:solidFill>
                  <a:schemeClr val="dk1"/>
                </a:solidFill>
                <a:highlight>
                  <a:srgbClr val="FFFFFF"/>
                </a:highlight>
                <a:latin typeface="Times New Roman" panose="02020603050405020304" pitchFamily="18" charset="0"/>
                <a:ea typeface="Calibri"/>
                <a:cs typeface="Times New Roman" panose="02020603050405020304" pitchFamily="18" charset="0"/>
                <a:sym typeface="Calibri"/>
              </a:rPr>
              <a:t> and SMS gateway.</a:t>
            </a:r>
            <a:r>
              <a:rPr lang="en-IN" sz="1900" i="1" dirty="0">
                <a:solidFill>
                  <a:schemeClr val="dk1"/>
                </a:solidFill>
                <a:highlight>
                  <a:srgbClr val="FFFFFF"/>
                </a:highlight>
                <a:latin typeface="Times New Roman" panose="02020603050405020304" pitchFamily="18" charset="0"/>
                <a:ea typeface="Calibri"/>
                <a:cs typeface="Times New Roman" panose="02020603050405020304" pitchFamily="18" charset="0"/>
                <a:sym typeface="Calibri"/>
              </a:rPr>
              <a:t> IOP Conference </a:t>
            </a:r>
            <a:r>
              <a:rPr lang="en-IN" sz="1900" i="1" dirty="0" err="1">
                <a:solidFill>
                  <a:schemeClr val="dk1"/>
                </a:solidFill>
                <a:highlight>
                  <a:srgbClr val="FFFFFF"/>
                </a:highlight>
                <a:latin typeface="Times New Roman" panose="02020603050405020304" pitchFamily="18" charset="0"/>
                <a:ea typeface="Calibri"/>
                <a:cs typeface="Times New Roman" panose="02020603050405020304" pitchFamily="18" charset="0"/>
                <a:sym typeface="Calibri"/>
              </a:rPr>
              <a:t>Series.Materials</a:t>
            </a:r>
            <a:r>
              <a:rPr lang="en-IN" sz="1900" i="1" dirty="0">
                <a:solidFill>
                  <a:schemeClr val="dk1"/>
                </a:solidFill>
                <a:highlight>
                  <a:srgbClr val="FFFFFF"/>
                </a:highlight>
                <a:latin typeface="Times New Roman" panose="02020603050405020304" pitchFamily="18" charset="0"/>
                <a:ea typeface="Calibri"/>
                <a:cs typeface="Times New Roman" panose="02020603050405020304" pitchFamily="18" charset="0"/>
                <a:sym typeface="Calibri"/>
              </a:rPr>
              <a:t> Science and Engineering, 407</a:t>
            </a:r>
            <a:r>
              <a:rPr lang="en-IN" sz="1900" dirty="0">
                <a:solidFill>
                  <a:schemeClr val="dk1"/>
                </a:solidFill>
                <a:highlight>
                  <a:srgbClr val="FFFFFF"/>
                </a:highlight>
                <a:latin typeface="Times New Roman" panose="02020603050405020304" pitchFamily="18" charset="0"/>
                <a:ea typeface="Calibri"/>
                <a:cs typeface="Times New Roman" panose="02020603050405020304" pitchFamily="18" charset="0"/>
                <a:sym typeface="Calibri"/>
              </a:rPr>
              <a:t>(1) </a:t>
            </a:r>
            <a:r>
              <a:rPr lang="en-IN" sz="1900" dirty="0" err="1">
                <a:solidFill>
                  <a:schemeClr val="dk1"/>
                </a:solidFill>
                <a:highlight>
                  <a:srgbClr val="FFFFFF"/>
                </a:highlight>
                <a:latin typeface="Times New Roman" panose="02020603050405020304" pitchFamily="18" charset="0"/>
                <a:ea typeface="Calibri"/>
                <a:cs typeface="Times New Roman" panose="02020603050405020304" pitchFamily="18" charset="0"/>
                <a:sym typeface="Calibri"/>
              </a:rPr>
              <a:t>doi:https</a:t>
            </a:r>
            <a:r>
              <a:rPr lang="en-IN" sz="1900" dirty="0">
                <a:solidFill>
                  <a:schemeClr val="dk1"/>
                </a:solidFill>
                <a:highlight>
                  <a:srgbClr val="FFFFFF"/>
                </a:highlight>
                <a:latin typeface="Times New Roman" panose="02020603050405020304" pitchFamily="18" charset="0"/>
                <a:ea typeface="Calibri"/>
                <a:cs typeface="Times New Roman" panose="02020603050405020304" pitchFamily="18" charset="0"/>
                <a:sym typeface="Calibri"/>
              </a:rPr>
              <a:t>://doi.org/10.1088/1757-899X/407/1/012160</a:t>
            </a:r>
          </a:p>
          <a:p>
            <a:pPr marL="285750" lvl="0" indent="-228600" algn="l" rtl="0">
              <a:spcBef>
                <a:spcPts val="0"/>
              </a:spcBef>
              <a:spcAft>
                <a:spcPts val="0"/>
              </a:spcAft>
              <a:buNone/>
            </a:pPr>
            <a:r>
              <a:rPr lang="en-IN" sz="1900" dirty="0">
                <a:solidFill>
                  <a:schemeClr val="dk1"/>
                </a:solidFill>
                <a:highlight>
                  <a:srgbClr val="FFFFFF"/>
                </a:highlight>
                <a:latin typeface="Times New Roman" panose="02020603050405020304" pitchFamily="18" charset="0"/>
                <a:ea typeface="Calibri"/>
                <a:cs typeface="Times New Roman" panose="02020603050405020304" pitchFamily="18" charset="0"/>
                <a:sym typeface="Calibri"/>
              </a:rPr>
              <a:t>[8] Sen, S., &amp; Dasgupta, A. (2022). </a:t>
            </a:r>
            <a:r>
              <a:rPr lang="en-IN" sz="1900" i="1" dirty="0">
                <a:solidFill>
                  <a:schemeClr val="dk1"/>
                </a:solidFill>
                <a:highlight>
                  <a:srgbClr val="FFFFFF"/>
                </a:highlight>
                <a:latin typeface="Times New Roman" panose="02020603050405020304" pitchFamily="18" charset="0"/>
                <a:ea typeface="Calibri"/>
                <a:cs typeface="Times New Roman" panose="02020603050405020304" pitchFamily="18" charset="0"/>
                <a:sym typeface="Calibri"/>
              </a:rPr>
              <a:t>Automatic irrigation system with water-level indicator and IOT enabled humidity lodger</a:t>
            </a:r>
            <a:r>
              <a:rPr lang="en-IN" sz="1900" dirty="0">
                <a:solidFill>
                  <a:schemeClr val="dk1"/>
                </a:solidFill>
                <a:highlight>
                  <a:srgbClr val="FFFFFF"/>
                </a:highlight>
                <a:latin typeface="Times New Roman" panose="02020603050405020304" pitchFamily="18" charset="0"/>
                <a:ea typeface="Calibri"/>
                <a:cs typeface="Times New Roman" panose="02020603050405020304" pitchFamily="18" charset="0"/>
                <a:sym typeface="Calibri"/>
              </a:rPr>
              <a:t>. Piscataway: The Institute of Electrical and Electronics Engineers, Inc. (IEEE). </a:t>
            </a:r>
            <a:r>
              <a:rPr lang="en-IN" sz="1900" dirty="0" err="1">
                <a:solidFill>
                  <a:schemeClr val="dk1"/>
                </a:solidFill>
                <a:highlight>
                  <a:srgbClr val="FFFFFF"/>
                </a:highlight>
                <a:latin typeface="Times New Roman" panose="02020603050405020304" pitchFamily="18" charset="0"/>
                <a:ea typeface="Calibri"/>
                <a:cs typeface="Times New Roman" panose="02020603050405020304" pitchFamily="18" charset="0"/>
                <a:sym typeface="Calibri"/>
              </a:rPr>
              <a:t>doi:https</a:t>
            </a:r>
            <a:r>
              <a:rPr lang="en-IN" sz="1900" dirty="0">
                <a:solidFill>
                  <a:schemeClr val="dk1"/>
                </a:solidFill>
                <a:highlight>
                  <a:srgbClr val="FFFFFF"/>
                </a:highlight>
                <a:latin typeface="Times New Roman" panose="02020603050405020304" pitchFamily="18" charset="0"/>
                <a:ea typeface="Calibri"/>
                <a:cs typeface="Times New Roman" panose="02020603050405020304" pitchFamily="18" charset="0"/>
                <a:sym typeface="Calibri"/>
              </a:rPr>
              <a:t>://doi.org/10.1109/DELCON54057.2022.9753499</a:t>
            </a:r>
          </a:p>
          <a:p>
            <a:pPr marL="285750" lvl="0" indent="-228600" algn="l" rtl="0">
              <a:spcBef>
                <a:spcPts val="0"/>
              </a:spcBef>
              <a:spcAft>
                <a:spcPts val="0"/>
              </a:spcAft>
              <a:buNone/>
            </a:pPr>
            <a:r>
              <a:rPr lang="en-IN" sz="1900" dirty="0">
                <a:solidFill>
                  <a:schemeClr val="dk1"/>
                </a:solidFill>
                <a:highlight>
                  <a:srgbClr val="FFFFFF"/>
                </a:highlight>
                <a:latin typeface="Times New Roman" panose="02020603050405020304" pitchFamily="18" charset="0"/>
                <a:ea typeface="Calibri"/>
                <a:cs typeface="Times New Roman" panose="02020603050405020304" pitchFamily="18" charset="0"/>
                <a:sym typeface="Calibri"/>
              </a:rPr>
              <a:t>[9] Indira, P., Arafat, I. S., Karthikeyan, R., </a:t>
            </a:r>
            <a:r>
              <a:rPr lang="en-IN" sz="1900" dirty="0" err="1">
                <a:solidFill>
                  <a:schemeClr val="dk1"/>
                </a:solidFill>
                <a:highlight>
                  <a:srgbClr val="FFFFFF"/>
                </a:highlight>
                <a:latin typeface="Times New Roman" panose="02020603050405020304" pitchFamily="18" charset="0"/>
                <a:ea typeface="Calibri"/>
                <a:cs typeface="Times New Roman" panose="02020603050405020304" pitchFamily="18" charset="0"/>
                <a:sym typeface="Calibri"/>
              </a:rPr>
              <a:t>Selvarajan</a:t>
            </a:r>
            <a:r>
              <a:rPr lang="en-IN" sz="1900" dirty="0">
                <a:solidFill>
                  <a:schemeClr val="dk1"/>
                </a:solidFill>
                <a:highlight>
                  <a:srgbClr val="FFFFFF"/>
                </a:highlight>
                <a:latin typeface="Times New Roman" panose="02020603050405020304" pitchFamily="18" charset="0"/>
                <a:ea typeface="Calibri"/>
                <a:cs typeface="Times New Roman" panose="02020603050405020304" pitchFamily="18" charset="0"/>
                <a:sym typeface="Calibri"/>
              </a:rPr>
              <a:t>, S., &amp; Balachandran, P. K. (2023/12//). Fabrication and investigation of agricultural monitoring system with IoT &amp; AI.</a:t>
            </a:r>
            <a:r>
              <a:rPr lang="en-IN" sz="1900" i="1" dirty="0">
                <a:solidFill>
                  <a:schemeClr val="dk1"/>
                </a:solidFill>
                <a:highlight>
                  <a:srgbClr val="FFFFFF"/>
                </a:highlight>
                <a:latin typeface="Times New Roman" panose="02020603050405020304" pitchFamily="18" charset="0"/>
                <a:ea typeface="Calibri"/>
                <a:cs typeface="Times New Roman" panose="02020603050405020304" pitchFamily="18" charset="0"/>
                <a:sym typeface="Calibri"/>
              </a:rPr>
              <a:t> SN Applied Sciences, 5</a:t>
            </a:r>
            <a:r>
              <a:rPr lang="en-IN" sz="1900" dirty="0">
                <a:solidFill>
                  <a:schemeClr val="dk1"/>
                </a:solidFill>
                <a:highlight>
                  <a:srgbClr val="FFFFFF"/>
                </a:highlight>
                <a:latin typeface="Times New Roman" panose="02020603050405020304" pitchFamily="18" charset="0"/>
                <a:ea typeface="Calibri"/>
                <a:cs typeface="Times New Roman" panose="02020603050405020304" pitchFamily="18" charset="0"/>
                <a:sym typeface="Calibri"/>
              </a:rPr>
              <a:t>(12), 322. </a:t>
            </a:r>
            <a:r>
              <a:rPr lang="en-IN" sz="1900" dirty="0" err="1">
                <a:solidFill>
                  <a:schemeClr val="dk1"/>
                </a:solidFill>
                <a:highlight>
                  <a:srgbClr val="FFFFFF"/>
                </a:highlight>
                <a:latin typeface="Times New Roman" panose="02020603050405020304" pitchFamily="18" charset="0"/>
                <a:ea typeface="Calibri"/>
                <a:cs typeface="Times New Roman" panose="02020603050405020304" pitchFamily="18" charset="0"/>
                <a:sym typeface="Calibri"/>
              </a:rPr>
              <a:t>doi:https</a:t>
            </a:r>
            <a:r>
              <a:rPr lang="en-IN" sz="1900" dirty="0">
                <a:solidFill>
                  <a:schemeClr val="dk1"/>
                </a:solidFill>
                <a:highlight>
                  <a:srgbClr val="FFFFFF"/>
                </a:highlight>
                <a:latin typeface="Times New Roman" panose="02020603050405020304" pitchFamily="18" charset="0"/>
                <a:ea typeface="Calibri"/>
                <a:cs typeface="Times New Roman" panose="02020603050405020304" pitchFamily="18" charset="0"/>
                <a:sym typeface="Calibri"/>
              </a:rPr>
              <a:t>://doi.org/10.1007/s42452-023-05526-1</a:t>
            </a:r>
          </a:p>
          <a:p>
            <a:pPr marL="285750" lvl="0" indent="-228600" algn="l" rtl="0">
              <a:spcBef>
                <a:spcPts val="0"/>
              </a:spcBef>
              <a:spcAft>
                <a:spcPts val="0"/>
              </a:spcAft>
              <a:buNone/>
            </a:pPr>
            <a:r>
              <a:rPr lang="en-IN" sz="1900" dirty="0">
                <a:solidFill>
                  <a:schemeClr val="dk1"/>
                </a:solidFill>
                <a:highlight>
                  <a:srgbClr val="FFFFFF"/>
                </a:highlight>
                <a:latin typeface="Times New Roman" panose="02020603050405020304" pitchFamily="18" charset="0"/>
                <a:ea typeface="Calibri"/>
                <a:cs typeface="Times New Roman" panose="02020603050405020304" pitchFamily="18" charset="0"/>
                <a:sym typeface="Calibri"/>
              </a:rPr>
              <a:t>[10]Nagalingam, R., </a:t>
            </a:r>
            <a:r>
              <a:rPr lang="en-IN" sz="1900" dirty="0" err="1">
                <a:solidFill>
                  <a:schemeClr val="dk1"/>
                </a:solidFill>
                <a:highlight>
                  <a:srgbClr val="FFFFFF"/>
                </a:highlight>
                <a:latin typeface="Times New Roman" panose="02020603050405020304" pitchFamily="18" charset="0"/>
                <a:ea typeface="Calibri"/>
                <a:cs typeface="Times New Roman" panose="02020603050405020304" pitchFamily="18" charset="0"/>
                <a:sym typeface="Calibri"/>
              </a:rPr>
              <a:t>Chintamaneni</a:t>
            </a:r>
            <a:r>
              <a:rPr lang="en-IN" sz="1900" dirty="0">
                <a:solidFill>
                  <a:schemeClr val="dk1"/>
                </a:solidFill>
                <a:highlight>
                  <a:srgbClr val="FFFFFF"/>
                </a:highlight>
                <a:latin typeface="Times New Roman" panose="02020603050405020304" pitchFamily="18" charset="0"/>
                <a:ea typeface="Calibri"/>
                <a:cs typeface="Times New Roman" panose="02020603050405020304" pitchFamily="18" charset="0"/>
                <a:sym typeface="Calibri"/>
              </a:rPr>
              <a:t>, V., </a:t>
            </a:r>
            <a:r>
              <a:rPr lang="en-IN" sz="1900" dirty="0" err="1">
                <a:solidFill>
                  <a:schemeClr val="dk1"/>
                </a:solidFill>
                <a:highlight>
                  <a:srgbClr val="FFFFFF"/>
                </a:highlight>
                <a:latin typeface="Times New Roman" panose="02020603050405020304" pitchFamily="18" charset="0"/>
                <a:ea typeface="Calibri"/>
                <a:cs typeface="Times New Roman" panose="02020603050405020304" pitchFamily="18" charset="0"/>
                <a:sym typeface="Calibri"/>
              </a:rPr>
              <a:t>Paramasivan</a:t>
            </a:r>
            <a:r>
              <a:rPr lang="en-IN" sz="1900" dirty="0">
                <a:solidFill>
                  <a:schemeClr val="dk1"/>
                </a:solidFill>
                <a:highlight>
                  <a:srgbClr val="FFFFFF"/>
                </a:highlight>
                <a:latin typeface="Times New Roman" panose="02020603050405020304" pitchFamily="18" charset="0"/>
                <a:ea typeface="Calibri"/>
                <a:cs typeface="Times New Roman" panose="02020603050405020304" pitchFamily="18" charset="0"/>
                <a:sym typeface="Calibri"/>
              </a:rPr>
              <a:t>, K., &amp; </a:t>
            </a:r>
            <a:r>
              <a:rPr lang="en-IN" sz="1900" dirty="0" err="1">
                <a:solidFill>
                  <a:schemeClr val="dk1"/>
                </a:solidFill>
                <a:highlight>
                  <a:srgbClr val="FFFFFF"/>
                </a:highlight>
                <a:latin typeface="Times New Roman" panose="02020603050405020304" pitchFamily="18" charset="0"/>
                <a:ea typeface="Calibri"/>
                <a:cs typeface="Times New Roman" panose="02020603050405020304" pitchFamily="18" charset="0"/>
                <a:sym typeface="Calibri"/>
              </a:rPr>
              <a:t>Ponnusamy</a:t>
            </a:r>
            <a:r>
              <a:rPr lang="en-IN" sz="1900" dirty="0">
                <a:solidFill>
                  <a:schemeClr val="dk1"/>
                </a:solidFill>
                <a:highlight>
                  <a:srgbClr val="FFFFFF"/>
                </a:highlight>
                <a:latin typeface="Times New Roman" panose="02020603050405020304" pitchFamily="18" charset="0"/>
                <a:ea typeface="Calibri"/>
                <a:cs typeface="Times New Roman" panose="02020603050405020304" pitchFamily="18" charset="0"/>
                <a:sym typeface="Calibri"/>
              </a:rPr>
              <a:t>, M. (2023/12//). Smart agriculture – automatic monitoring of soil moisture and irrigation control for farming land.</a:t>
            </a:r>
            <a:r>
              <a:rPr lang="en-IN" sz="1900" i="1" dirty="0">
                <a:solidFill>
                  <a:schemeClr val="dk1"/>
                </a:solidFill>
                <a:highlight>
                  <a:srgbClr val="FFFFFF"/>
                </a:highlight>
                <a:latin typeface="Times New Roman" panose="02020603050405020304" pitchFamily="18" charset="0"/>
                <a:ea typeface="Calibri"/>
                <a:cs typeface="Times New Roman" panose="02020603050405020304" pitchFamily="18" charset="0"/>
                <a:sym typeface="Calibri"/>
              </a:rPr>
              <a:t> Current Agriculture Research Journal, 11</a:t>
            </a:r>
            <a:r>
              <a:rPr lang="en-IN" sz="1900" dirty="0">
                <a:solidFill>
                  <a:schemeClr val="dk1"/>
                </a:solidFill>
                <a:highlight>
                  <a:srgbClr val="FFFFFF"/>
                </a:highlight>
                <a:latin typeface="Times New Roman" panose="02020603050405020304" pitchFamily="18" charset="0"/>
                <a:ea typeface="Calibri"/>
                <a:cs typeface="Times New Roman" panose="02020603050405020304" pitchFamily="18" charset="0"/>
                <a:sym typeface="Calibri"/>
              </a:rPr>
              <a:t>(3) </a:t>
            </a:r>
            <a:r>
              <a:rPr lang="en-IN" sz="1900" dirty="0" err="1">
                <a:solidFill>
                  <a:schemeClr val="dk1"/>
                </a:solidFill>
                <a:highlight>
                  <a:srgbClr val="FFFFFF"/>
                </a:highlight>
                <a:latin typeface="Times New Roman" panose="02020603050405020304" pitchFamily="18" charset="0"/>
                <a:ea typeface="Calibri"/>
                <a:cs typeface="Times New Roman" panose="02020603050405020304" pitchFamily="18" charset="0"/>
                <a:sym typeface="Calibri"/>
              </a:rPr>
              <a:t>doi:https</a:t>
            </a:r>
            <a:r>
              <a:rPr lang="en-IN" sz="1900" dirty="0">
                <a:solidFill>
                  <a:schemeClr val="dk1"/>
                </a:solidFill>
                <a:highlight>
                  <a:srgbClr val="FFFFFF"/>
                </a:highlight>
                <a:latin typeface="Times New Roman" panose="02020603050405020304" pitchFamily="18" charset="0"/>
                <a:ea typeface="Calibri"/>
                <a:cs typeface="Times New Roman" panose="02020603050405020304" pitchFamily="18" charset="0"/>
                <a:sym typeface="Calibri"/>
              </a:rPr>
              <a:t>://doi.org/10.12944/CARJ.11.3.30</a:t>
            </a:r>
          </a:p>
          <a:p>
            <a:pPr marL="285750" lvl="0" indent="-228600" algn="l" rtl="0">
              <a:spcBef>
                <a:spcPts val="0"/>
              </a:spcBef>
              <a:spcAft>
                <a:spcPts val="0"/>
              </a:spcAft>
              <a:buClr>
                <a:schemeClr val="dk1"/>
              </a:buClr>
              <a:buSzPts val="1400"/>
              <a:buFont typeface="Arial"/>
              <a:buNone/>
            </a:pPr>
            <a:endParaRPr lang="en-IN" sz="1050" dirty="0">
              <a:solidFill>
                <a:schemeClr val="dk1"/>
              </a:solidFill>
              <a:highlight>
                <a:srgbClr val="FFFFFF"/>
              </a:highlight>
              <a:latin typeface="Times New Roman" panose="02020603050405020304" pitchFamily="18" charset="0"/>
              <a:ea typeface="Calibri"/>
              <a:cs typeface="Times New Roman" panose="02020603050405020304" pitchFamily="18" charset="0"/>
              <a:sym typeface="Calibri"/>
            </a:endParaRPr>
          </a:p>
          <a:p>
            <a:endParaRPr lang="en-IN" sz="2000" b="1" dirty="0">
              <a:solidFill>
                <a:schemeClr val="tx1"/>
              </a:solidFill>
              <a:latin typeface="Times New Roman" panose="02020603050405020304" pitchFamily="18" charset="0"/>
              <a:cs typeface="Times New Roman" panose="02020603050405020304" pitchFamily="18" charset="0"/>
            </a:endParaRPr>
          </a:p>
        </p:txBody>
      </p:sp>
      <p:sp>
        <p:nvSpPr>
          <p:cNvPr id="10" name="Date Placeholder 2">
            <a:extLst>
              <a:ext uri="{FF2B5EF4-FFF2-40B4-BE49-F238E27FC236}">
                <a16:creationId xmlns:a16="http://schemas.microsoft.com/office/drawing/2014/main" id="{B8364311-6A95-EFBD-7B4F-C8FDB37AFE36}"/>
              </a:ext>
            </a:extLst>
          </p:cNvPr>
          <p:cNvSpPr txBox="1">
            <a:spLocks/>
          </p:cNvSpPr>
          <p:nvPr/>
        </p:nvSpPr>
        <p:spPr>
          <a:xfrm>
            <a:off x="426328" y="6356349"/>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sz="1800" dirty="0">
              <a:solidFill>
                <a:schemeClr val="tx1"/>
              </a:solidFill>
              <a:latin typeface="Times New Roman" pitchFamily="18" charset="0"/>
              <a:cs typeface="Times New Roman" pitchFamily="18" charset="0"/>
            </a:endParaRPr>
          </a:p>
        </p:txBody>
      </p:sp>
      <p:sp>
        <p:nvSpPr>
          <p:cNvPr id="2" name="Date Placeholder 3">
            <a:extLst>
              <a:ext uri="{FF2B5EF4-FFF2-40B4-BE49-F238E27FC236}">
                <a16:creationId xmlns:a16="http://schemas.microsoft.com/office/drawing/2014/main" id="{B8F65645-E1CF-78F1-975B-940A1CA2A8FB}"/>
              </a:ext>
            </a:extLst>
          </p:cNvPr>
          <p:cNvSpPr txBox="1">
            <a:spLocks/>
          </p:cNvSpPr>
          <p:nvPr/>
        </p:nvSpPr>
        <p:spPr>
          <a:xfrm>
            <a:off x="323528" y="6356349"/>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sz="18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571118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04665"/>
            <a:ext cx="7772400" cy="5184575"/>
          </a:xfrm>
        </p:spPr>
        <p:txBody>
          <a:bodyPr>
            <a:noAutofit/>
          </a:bodyPr>
          <a:lstStyle/>
          <a:p>
            <a:r>
              <a:rPr lang="en-US" sz="7200" b="1" dirty="0">
                <a:latin typeface="Algerian" pitchFamily="82" charset="0"/>
                <a:cs typeface="Times New Roman" pitchFamily="18" charset="0"/>
              </a:rPr>
              <a:t>Thank You</a:t>
            </a:r>
            <a:endParaRPr lang="en-IN" sz="7200" b="1" dirty="0">
              <a:latin typeface="Algerian" pitchFamily="82" charset="0"/>
              <a:cs typeface="Times New Roman"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2070</Words>
  <Application>Microsoft Office PowerPoint</Application>
  <PresentationFormat>On-screen Show (4:3)</PresentationFormat>
  <Paragraphs>141</Paragraphs>
  <Slides>16</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Algerian</vt:lpstr>
      <vt:lpstr>Arial</vt:lpstr>
      <vt:lpstr>Calibri</vt:lpstr>
      <vt:lpstr>Times New Roman</vt:lpstr>
      <vt:lpstr>Office Theme</vt:lpstr>
      <vt:lpstr>        K.S. SCHOOL OF ENGINEERING AND MANAGEMENT                    DEPARTMENT OF ELECTRONICS AND COMMUNICATION ENGINEERING      Presentation on  Title of the project Real Time Responsive Automated Window and Water Supply Operator for Indoor Plantations using IOT</vt:lpstr>
      <vt:lpstr>Introduction</vt:lpstr>
      <vt:lpstr>Literature Review</vt:lpstr>
      <vt:lpstr>PowerPoint Presentation</vt:lpstr>
      <vt:lpstr>PowerPoint Presentation</vt:lpstr>
      <vt:lpstr>PowerPoint Presentation</vt:lpstr>
      <vt:lpstr>Problem Statement</vt:lpstr>
      <vt:lpstr>Block Diagram</vt:lpstr>
      <vt:lpstr>Interfacing</vt:lpstr>
      <vt:lpstr>Hardware and Software</vt:lpstr>
      <vt:lpstr>PowerPoint Presentation</vt:lpstr>
      <vt:lpstr>PowerPoint Presentation</vt:lpstr>
      <vt:lpstr>PowerPoint Presentation</vt:lpstr>
      <vt:lpstr>References</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K.S. SCHOOL OF ENGINEERING AND MANAGEMENT                    DEPARTMENT OF ELECTRONICS AND COMMUNICATION ENGINEERING      Presentation on  Title of the project Real Time Responsive Automated Window and Water Supply Operator for Indoor Plantations using IOT</dc:title>
  <cp:lastModifiedBy>MYPC</cp:lastModifiedBy>
  <cp:revision>1</cp:revision>
  <dcterms:modified xsi:type="dcterms:W3CDTF">2025-05-12T09:07:47Z</dcterms:modified>
</cp:coreProperties>
</file>